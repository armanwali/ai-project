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3" r:id="rId9"/>
    <p:sldId id="262" r:id="rId10"/>
    <p:sldId id="264" r:id="rId11"/>
    <p:sldId id="265" r:id="rId12"/>
    <p:sldId id="266" r:id="rId13"/>
  </p:sldIdLst>
  <p:sldSz cx="18288000" cy="10287000"/>
  <p:notesSz cx="6858000" cy="9144000"/>
  <p:embeddedFontLst>
    <p:embeddedFont>
      <p:font typeface="Open Sauce" panose="020B0604020202020204" charset="0"/>
      <p:regular r:id="rId14"/>
    </p:embeddedFont>
    <p:embeddedFont>
      <p:font typeface="Open Sauce Bold" panose="020B0604020202020204" charset="0"/>
      <p:regular r:id="rId15"/>
      <p:bold r:id="rId16"/>
    </p:embeddedFont>
    <p:embeddedFont>
      <p:font typeface="Oswald Bold" panose="020B0604020202020204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BD04AE-A7FC-0A4C-8B0E-1AA89B01CA84}" v="1" dt="2025-12-16T11:43:02.4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2023129" userId="f4fc83a1-f8e8-41ae-8b59-c0163b7db971" providerId="ADAL" clId="{0A18878E-2A7D-5CAC-B2EA-5FB6B5599AC8}"/>
    <pc:docChg chg="modSld">
      <pc:chgData name="u2023129" userId="f4fc83a1-f8e8-41ae-8b59-c0163b7db971" providerId="ADAL" clId="{0A18878E-2A7D-5CAC-B2EA-5FB6B5599AC8}" dt="2025-12-16T11:43:08.739" v="2"/>
      <pc:docMkLst>
        <pc:docMk/>
      </pc:docMkLst>
      <pc:sldChg chg="addSp delSp modSp mod">
        <pc:chgData name="u2023129" userId="f4fc83a1-f8e8-41ae-8b59-c0163b7db971" providerId="ADAL" clId="{0A18878E-2A7D-5CAC-B2EA-5FB6B5599AC8}" dt="2025-12-16T11:43:08.739" v="2"/>
        <pc:sldMkLst>
          <pc:docMk/>
          <pc:sldMk cId="0" sldId="265"/>
        </pc:sldMkLst>
        <pc:spChg chg="add del mod">
          <ac:chgData name="u2023129" userId="f4fc83a1-f8e8-41ae-8b59-c0163b7db971" providerId="ADAL" clId="{0A18878E-2A7D-5CAC-B2EA-5FB6B5599AC8}" dt="2025-12-16T11:43:08.739" v="2"/>
          <ac:spMkLst>
            <pc:docMk/>
            <pc:sldMk cId="0" sldId="265"/>
            <ac:spMk id="5" creationId="{CE1B0D19-627F-9AB2-C426-0B83B4552B79}"/>
          </ac:spMkLst>
        </pc:spChg>
      </pc:sldChg>
    </pc:docChg>
  </pc:docChgLst>
  <pc:docChgLst>
    <pc:chgData name="u2023129" userId="f4fc83a1-f8e8-41ae-8b59-c0163b7db971" providerId="ADAL" clId="{BF4206D7-2F5D-4DAC-84F3-1AEF14D5E4CF}"/>
    <pc:docChg chg="modSld">
      <pc:chgData name="u2023129" userId="f4fc83a1-f8e8-41ae-8b59-c0163b7db971" providerId="ADAL" clId="{BF4206D7-2F5D-4DAC-84F3-1AEF14D5E4CF}" dt="2025-12-16T05:37:09.274" v="3" actId="1076"/>
      <pc:docMkLst>
        <pc:docMk/>
      </pc:docMkLst>
      <pc:sldChg chg="modSp mod">
        <pc:chgData name="u2023129" userId="f4fc83a1-f8e8-41ae-8b59-c0163b7db971" providerId="ADAL" clId="{BF4206D7-2F5D-4DAC-84F3-1AEF14D5E4CF}" dt="2025-12-16T05:37:09.274" v="3" actId="1076"/>
        <pc:sldMkLst>
          <pc:docMk/>
          <pc:sldMk cId="0" sldId="265"/>
        </pc:sldMkLst>
        <pc:spChg chg="mod">
          <ac:chgData name="u2023129" userId="f4fc83a1-f8e8-41ae-8b59-c0163b7db971" providerId="ADAL" clId="{BF4206D7-2F5D-4DAC-84F3-1AEF14D5E4CF}" dt="2025-12-16T05:37:07.888" v="2" actId="255"/>
          <ac:spMkLst>
            <pc:docMk/>
            <pc:sldMk cId="0" sldId="265"/>
            <ac:spMk id="15" creationId="{00000000-0000-0000-0000-000000000000}"/>
          </ac:spMkLst>
        </pc:spChg>
        <pc:grpChg chg="mod">
          <ac:chgData name="u2023129" userId="f4fc83a1-f8e8-41ae-8b59-c0163b7db971" providerId="ADAL" clId="{BF4206D7-2F5D-4DAC-84F3-1AEF14D5E4CF}" dt="2025-12-16T05:37:09.274" v="3" actId="1076"/>
          <ac:grpSpMkLst>
            <pc:docMk/>
            <pc:sldMk cId="0" sldId="265"/>
            <ac:grpSpMk id="6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8F4E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43200" y="2324100"/>
            <a:ext cx="12951871" cy="2111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13"/>
              </a:lnSpc>
              <a:spcBef>
                <a:spcPct val="0"/>
              </a:spcBef>
            </a:pPr>
            <a:r>
              <a:rPr lang="en-US" sz="12295" b="1" spc="-491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AI RESUME REVIEWER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618788" y="4686300"/>
            <a:ext cx="9050424" cy="195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CS-351 Artificial Intelligence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14th December 2025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endParaRPr lang="en-US" sz="2799" spc="55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3919"/>
              </a:lnSpc>
              <a:spcBef>
                <a:spcPct val="0"/>
              </a:spcBef>
            </a:pPr>
            <a:endParaRPr lang="en-US" sz="2799" spc="55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BB7E5-6D49-86DE-5698-10FCFD0AD939}"/>
              </a:ext>
            </a:extLst>
          </p:cNvPr>
          <p:cNvSpPr txBox="1"/>
          <p:nvPr/>
        </p:nvSpPr>
        <p:spPr>
          <a:xfrm>
            <a:off x="6597443" y="6057900"/>
            <a:ext cx="524338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800" b="1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Team Members:</a:t>
            </a:r>
          </a:p>
          <a:p>
            <a:pPr>
              <a:lnSpc>
                <a:spcPts val="3919"/>
              </a:lnSpc>
              <a:spcBef>
                <a:spcPct val="0"/>
              </a:spcBef>
            </a:pPr>
            <a:r>
              <a:rPr lang="en-US" sz="2800" b="1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</a:t>
            </a:r>
            <a:r>
              <a:rPr lang="en-US" sz="2800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Arman Wali-2023129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800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Bareera Sultan-2023158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800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Mahvash Imran-2023294</a:t>
            </a:r>
          </a:p>
          <a:p>
            <a:pPr algn="ctr"/>
            <a:endParaRPr lang="en-US"/>
          </a:p>
        </p:txBody>
      </p:sp>
      <p:sp>
        <p:nvSpPr>
          <p:cNvPr id="5" name="TextBox 20">
            <a:extLst>
              <a:ext uri="{FF2B5EF4-FFF2-40B4-BE49-F238E27FC236}">
                <a16:creationId xmlns:a16="http://schemas.microsoft.com/office/drawing/2014/main" id="{9807CFAA-77CA-971D-699B-FFE506E38500}"/>
              </a:ext>
            </a:extLst>
          </p:cNvPr>
          <p:cNvSpPr txBox="1"/>
          <p:nvPr/>
        </p:nvSpPr>
        <p:spPr>
          <a:xfrm>
            <a:off x="16916400" y="9486900"/>
            <a:ext cx="829605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4EE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50983" y="889901"/>
            <a:ext cx="0" cy="951969"/>
          </a:xfrm>
          <a:prstGeom prst="line">
            <a:avLst/>
          </a:prstGeom>
          <a:ln w="190500" cap="flat">
            <a:solidFill>
              <a:srgbClr val="FF821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314450" y="962025"/>
            <a:ext cx="8115300" cy="702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 spc="-84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TABLE OF CONTENTS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90907" y="2742826"/>
            <a:ext cx="5696145" cy="457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Problem Definition &amp; relevance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201650" y="2716681"/>
            <a:ext cx="1139450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01650" y="3490280"/>
            <a:ext cx="1139450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24188" y="3524491"/>
            <a:ext cx="5688124" cy="457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System Architecture &amp;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01650" y="4263879"/>
            <a:ext cx="1139450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98928" y="5054092"/>
            <a:ext cx="6472447" cy="457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Data Handling &amp; feature engineering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01650" y="5037478"/>
            <a:ext cx="1139450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24188" y="5830698"/>
            <a:ext cx="6019800" cy="457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Model development &amp; evaluation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01650" y="5811077"/>
            <a:ext cx="1139450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90907" y="7377285"/>
            <a:ext cx="5486400" cy="457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Interpretability &amp; explainability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01650" y="6584675"/>
            <a:ext cx="1139450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01650" y="7358274"/>
            <a:ext cx="1139450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90907" y="8172902"/>
            <a:ext cx="4199988" cy="457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Scalability &amp; Innovation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C520B548-04E1-D4E6-7CD5-65C94EB943F6}"/>
              </a:ext>
            </a:extLst>
          </p:cNvPr>
          <p:cNvSpPr txBox="1"/>
          <p:nvPr/>
        </p:nvSpPr>
        <p:spPr>
          <a:xfrm>
            <a:off x="7298928" y="4297108"/>
            <a:ext cx="5688124" cy="457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Algorithmic Implementation</a:t>
            </a: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4DBE57C8-F861-3BF9-6722-3E75007E8540}"/>
              </a:ext>
            </a:extLst>
          </p:cNvPr>
          <p:cNvSpPr txBox="1"/>
          <p:nvPr/>
        </p:nvSpPr>
        <p:spPr>
          <a:xfrm>
            <a:off x="7290907" y="6584675"/>
            <a:ext cx="5486400" cy="457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Comparative Analysis</a:t>
            </a:r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1722E269-4E94-730B-6BF2-E5ADAF8D87A6}"/>
              </a:ext>
            </a:extLst>
          </p:cNvPr>
          <p:cNvSpPr txBox="1"/>
          <p:nvPr/>
        </p:nvSpPr>
        <p:spPr>
          <a:xfrm>
            <a:off x="13201650" y="8172902"/>
            <a:ext cx="1139450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11</a:t>
            </a: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1C309A23-292B-D060-D653-89E251D1D067}"/>
              </a:ext>
            </a:extLst>
          </p:cNvPr>
          <p:cNvSpPr txBox="1"/>
          <p:nvPr/>
        </p:nvSpPr>
        <p:spPr>
          <a:xfrm>
            <a:off x="16916400" y="9486900"/>
            <a:ext cx="829605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4EE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50983" y="889901"/>
            <a:ext cx="0" cy="951969"/>
          </a:xfrm>
          <a:prstGeom prst="line">
            <a:avLst/>
          </a:prstGeom>
          <a:ln w="190500" cap="flat">
            <a:solidFill>
              <a:srgbClr val="FF821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314450" y="962025"/>
            <a:ext cx="8115300" cy="702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 spc="-84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PROBLEM DEFINITION &amp; RELEVANCE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F7A5DE62-9C61-DDA1-2AF1-9F81C8475657}"/>
              </a:ext>
            </a:extLst>
          </p:cNvPr>
          <p:cNvSpPr txBox="1"/>
          <p:nvPr/>
        </p:nvSpPr>
        <p:spPr>
          <a:xfrm>
            <a:off x="1260483" y="1766960"/>
            <a:ext cx="7019424" cy="38450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600" b="1" spc="51">
                <a:solidFill>
                  <a:schemeClr val="accent6">
                    <a:lumMod val="75000"/>
                  </a:schemeClr>
                </a:solidFill>
                <a:latin typeface="Open Sauce"/>
                <a:ea typeface="Open Sauce Bold"/>
                <a:cs typeface="Open Sauce Bold"/>
                <a:sym typeface="Open Sauce"/>
              </a:rPr>
              <a:t>Current hiring reality:</a:t>
            </a:r>
          </a:p>
          <a:p>
            <a:pPr marL="457200" indent="-457200">
              <a:lnSpc>
                <a:spcPts val="3625"/>
              </a:lnSpc>
              <a:buFont typeface="Wingdings" panose="05000000000000000000" pitchFamily="2" charset="2"/>
              <a:buChar char="q"/>
            </a:pPr>
            <a:r>
              <a:rPr lang="en-US" sz="2800" spc="51">
                <a:solidFill>
                  <a:srgbClr val="000000"/>
                </a:solidFill>
                <a:latin typeface="Open Sauce"/>
                <a:ea typeface="Open Sauce Bold"/>
                <a:cs typeface="Open Sauce Bold"/>
                <a:sym typeface="Open Sauce"/>
              </a:rPr>
              <a:t>Time to hire: 42 days</a:t>
            </a:r>
          </a:p>
          <a:p>
            <a:pPr marL="457200" indent="-457200">
              <a:lnSpc>
                <a:spcPts val="3625"/>
              </a:lnSpc>
              <a:buFont typeface="Wingdings" panose="05000000000000000000" pitchFamily="2" charset="2"/>
              <a:buChar char="q"/>
            </a:pPr>
            <a:r>
              <a:rPr lang="en-US" sz="2800" spc="51">
                <a:solidFill>
                  <a:srgbClr val="000000"/>
                </a:solidFill>
                <a:latin typeface="Open Sauce"/>
                <a:ea typeface="Open Sauce Bold"/>
                <a:cs typeface="Open Sauce Bold"/>
                <a:sym typeface="Open Sauce"/>
              </a:rPr>
              <a:t>Cost per hire: $4000</a:t>
            </a:r>
          </a:p>
          <a:p>
            <a:pPr marL="457200" indent="-457200">
              <a:lnSpc>
                <a:spcPts val="3625"/>
              </a:lnSpc>
              <a:buFont typeface="Wingdings" panose="05000000000000000000" pitchFamily="2" charset="2"/>
              <a:buChar char="q"/>
            </a:pPr>
            <a:r>
              <a:rPr lang="en-US" sz="2800" spc="51">
                <a:solidFill>
                  <a:srgbClr val="000000"/>
                </a:solidFill>
                <a:latin typeface="Open Sauce"/>
                <a:ea typeface="Open Sauce Bold"/>
                <a:cs typeface="Open Sauce Bold"/>
                <a:sym typeface="Open Sauce"/>
              </a:rPr>
              <a:t>Applications per job: 250+</a:t>
            </a:r>
          </a:p>
          <a:p>
            <a:pPr marL="457200" indent="-457200">
              <a:lnSpc>
                <a:spcPts val="3625"/>
              </a:lnSpc>
              <a:buFont typeface="Wingdings" panose="05000000000000000000" pitchFamily="2" charset="2"/>
              <a:buChar char="q"/>
            </a:pPr>
            <a:r>
              <a:rPr lang="en-US" sz="2800" spc="51">
                <a:solidFill>
                  <a:srgbClr val="000000"/>
                </a:solidFill>
                <a:latin typeface="Open Sauce"/>
                <a:ea typeface="Open Sauce Bold"/>
                <a:cs typeface="Open Sauce Bold"/>
                <a:sym typeface="Open Sauce"/>
              </a:rPr>
              <a:t>Manual Screening: 50+ hours/week</a:t>
            </a:r>
          </a:p>
          <a:p>
            <a:pPr marL="457200" indent="-457200">
              <a:lnSpc>
                <a:spcPts val="3625"/>
              </a:lnSpc>
              <a:buFont typeface="Wingdings" panose="05000000000000000000" pitchFamily="2" charset="2"/>
              <a:buChar char="q"/>
            </a:pPr>
            <a:r>
              <a:rPr lang="en-US" sz="2800" spc="51">
                <a:solidFill>
                  <a:srgbClr val="000000"/>
                </a:solidFill>
                <a:latin typeface="Open Sauce"/>
                <a:ea typeface="Open Sauce Bold"/>
                <a:cs typeface="Open Sauce Bold"/>
                <a:sym typeface="Open Sauce"/>
              </a:rPr>
              <a:t>Turnover rate: 50% in 18 months</a:t>
            </a:r>
          </a:p>
          <a:p>
            <a:pPr>
              <a:lnSpc>
                <a:spcPts val="3625"/>
              </a:lnSpc>
            </a:pPr>
            <a:endParaRPr lang="en-US" sz="2800" b="1" spc="51">
              <a:solidFill>
                <a:srgbClr val="000000"/>
              </a:solidFill>
              <a:latin typeface="Open Sauce"/>
              <a:ea typeface="Open Sauce Bold"/>
              <a:cs typeface="Open Sauce Bold"/>
              <a:sym typeface="Open Sauce"/>
            </a:endParaRP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D408540E-BB42-0237-432F-3732C21F4A6D}"/>
              </a:ext>
            </a:extLst>
          </p:cNvPr>
          <p:cNvSpPr txBox="1"/>
          <p:nvPr/>
        </p:nvSpPr>
        <p:spPr>
          <a:xfrm>
            <a:off x="9753600" y="1805989"/>
            <a:ext cx="7019424" cy="4306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600" b="1" spc="51">
                <a:solidFill>
                  <a:schemeClr val="accent6">
                    <a:lumMod val="75000"/>
                  </a:schemeClr>
                </a:solidFill>
                <a:latin typeface="Open Sauce"/>
                <a:ea typeface="Open Sauce Bold"/>
                <a:cs typeface="Open Sauce Bold"/>
                <a:sym typeface="Open Sauce"/>
              </a:rPr>
              <a:t>Our GOAL:</a:t>
            </a:r>
          </a:p>
          <a:p>
            <a:pPr marL="457200" indent="-457200">
              <a:lnSpc>
                <a:spcPts val="3625"/>
              </a:lnSpc>
              <a:buFont typeface="Wingdings" panose="05000000000000000000" pitchFamily="2" charset="2"/>
              <a:buChar char="q"/>
            </a:pPr>
            <a:r>
              <a:rPr lang="en-US" sz="2800" spc="51">
                <a:solidFill>
                  <a:srgbClr val="000000"/>
                </a:solidFill>
                <a:latin typeface="Open Sauce"/>
                <a:ea typeface="Open Sauce Bold"/>
                <a:cs typeface="Open Sauce Bold"/>
                <a:sym typeface="Open Sauce"/>
              </a:rPr>
              <a:t>Time to hire: 12 days</a:t>
            </a:r>
          </a:p>
          <a:p>
            <a:pPr marL="457200" indent="-457200">
              <a:lnSpc>
                <a:spcPts val="3625"/>
              </a:lnSpc>
              <a:buFont typeface="Wingdings" panose="05000000000000000000" pitchFamily="2" charset="2"/>
              <a:buChar char="q"/>
            </a:pPr>
            <a:r>
              <a:rPr lang="en-US" sz="2800" spc="51">
                <a:solidFill>
                  <a:srgbClr val="000000"/>
                </a:solidFill>
                <a:latin typeface="Open Sauce"/>
                <a:ea typeface="Open Sauce Bold"/>
                <a:cs typeface="Open Sauce Bold"/>
                <a:sym typeface="Open Sauce"/>
              </a:rPr>
              <a:t>Cost per hire: $1200</a:t>
            </a:r>
          </a:p>
          <a:p>
            <a:pPr marL="457200" indent="-457200">
              <a:lnSpc>
                <a:spcPts val="3625"/>
              </a:lnSpc>
              <a:buFont typeface="Wingdings" panose="05000000000000000000" pitchFamily="2" charset="2"/>
              <a:buChar char="q"/>
            </a:pPr>
            <a:r>
              <a:rPr lang="en-US" sz="2800" spc="51">
                <a:solidFill>
                  <a:srgbClr val="000000"/>
                </a:solidFill>
                <a:latin typeface="Open Sauce"/>
                <a:ea typeface="Open Sauce Bold"/>
                <a:cs typeface="Open Sauce Bold"/>
                <a:sym typeface="Open Sauce"/>
              </a:rPr>
              <a:t>Manual Screening: 3+ hours/week</a:t>
            </a:r>
          </a:p>
          <a:p>
            <a:pPr marL="457200" indent="-457200">
              <a:lnSpc>
                <a:spcPts val="3625"/>
              </a:lnSpc>
              <a:buFont typeface="Wingdings" panose="05000000000000000000" pitchFamily="2" charset="2"/>
              <a:buChar char="q"/>
            </a:pPr>
            <a:r>
              <a:rPr lang="en-US" sz="2800" spc="51">
                <a:solidFill>
                  <a:srgbClr val="000000"/>
                </a:solidFill>
                <a:latin typeface="Open Sauce"/>
                <a:ea typeface="Open Sauce Bold"/>
                <a:cs typeface="Open Sauce Bold"/>
                <a:sym typeface="Open Sauce"/>
              </a:rPr>
              <a:t>Turnover rate: 35% in 18 months</a:t>
            </a:r>
          </a:p>
          <a:p>
            <a:pPr>
              <a:lnSpc>
                <a:spcPts val="3625"/>
              </a:lnSpc>
            </a:pPr>
            <a:endParaRPr lang="en-US" sz="3200" spc="51">
              <a:solidFill>
                <a:srgbClr val="000000"/>
              </a:solidFill>
              <a:latin typeface="Open Sauce"/>
              <a:ea typeface="Open Sauce Bold"/>
              <a:cs typeface="Open Sauce Bold"/>
              <a:sym typeface="Open Sauce"/>
            </a:endParaRPr>
          </a:p>
          <a:p>
            <a:pPr>
              <a:lnSpc>
                <a:spcPts val="3625"/>
              </a:lnSpc>
            </a:pPr>
            <a:endParaRPr lang="en-US" sz="2800" b="1" spc="51">
              <a:solidFill>
                <a:srgbClr val="000000"/>
              </a:solidFill>
              <a:latin typeface="Open Sauce"/>
              <a:ea typeface="Open Sauce Bold"/>
              <a:cs typeface="Open Sauce Bold"/>
              <a:sym typeface="Open Sauce"/>
            </a:endParaRPr>
          </a:p>
          <a:p>
            <a:pPr>
              <a:lnSpc>
                <a:spcPts val="3625"/>
              </a:lnSpc>
            </a:pPr>
            <a:endParaRPr lang="en-US" sz="2800" b="1" spc="5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C537608E-30A3-DC46-8E8B-14530251AAFC}"/>
              </a:ext>
            </a:extLst>
          </p:cNvPr>
          <p:cNvSpPr txBox="1"/>
          <p:nvPr/>
        </p:nvSpPr>
        <p:spPr>
          <a:xfrm>
            <a:off x="1260483" y="5448300"/>
            <a:ext cx="7019424" cy="38450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600" b="1" spc="51">
                <a:solidFill>
                  <a:schemeClr val="accent6">
                    <a:lumMod val="75000"/>
                  </a:schemeClr>
                </a:solidFill>
                <a:latin typeface="Open Sauce"/>
                <a:ea typeface="Open Sauce Bold"/>
                <a:cs typeface="Open Sauce Bold"/>
                <a:sym typeface="Open Sauce"/>
              </a:rPr>
              <a:t>Improvement:</a:t>
            </a:r>
          </a:p>
          <a:p>
            <a:pPr marL="457200" indent="-457200">
              <a:lnSpc>
                <a:spcPts val="3625"/>
              </a:lnSpc>
              <a:buFont typeface="Wingdings" panose="05000000000000000000" pitchFamily="2" charset="2"/>
              <a:buChar char="q"/>
            </a:pPr>
            <a:r>
              <a:rPr lang="en-US" sz="2800" spc="51">
                <a:solidFill>
                  <a:srgbClr val="000000"/>
                </a:solidFill>
                <a:latin typeface="Open Sauce"/>
                <a:ea typeface="Open Sauce Bold"/>
                <a:cs typeface="Open Sauce Bold"/>
                <a:sym typeface="Open Sauce"/>
              </a:rPr>
              <a:t>71% faster</a:t>
            </a:r>
          </a:p>
          <a:p>
            <a:pPr marL="457200" indent="-457200">
              <a:lnSpc>
                <a:spcPts val="3625"/>
              </a:lnSpc>
              <a:buFont typeface="Wingdings" panose="05000000000000000000" pitchFamily="2" charset="2"/>
              <a:buChar char="q"/>
            </a:pPr>
            <a:r>
              <a:rPr lang="en-US" sz="2800" spc="51">
                <a:solidFill>
                  <a:srgbClr val="000000"/>
                </a:solidFill>
                <a:latin typeface="Open Sauce"/>
                <a:ea typeface="Open Sauce Bold"/>
                <a:cs typeface="Open Sauce Bold"/>
                <a:sym typeface="Open Sauce"/>
              </a:rPr>
              <a:t>70% savings</a:t>
            </a:r>
          </a:p>
          <a:p>
            <a:pPr marL="457200" indent="-457200">
              <a:lnSpc>
                <a:spcPts val="3625"/>
              </a:lnSpc>
              <a:buFont typeface="Wingdings" panose="05000000000000000000" pitchFamily="2" charset="2"/>
              <a:buChar char="q"/>
            </a:pPr>
            <a:r>
              <a:rPr lang="en-US" sz="2800" spc="51">
                <a:solidFill>
                  <a:srgbClr val="000000"/>
                </a:solidFill>
                <a:latin typeface="Open Sauce"/>
                <a:ea typeface="Open Sauce Bold"/>
                <a:cs typeface="Open Sauce Bold"/>
                <a:sym typeface="Open Sauce"/>
              </a:rPr>
              <a:t>94% reduction</a:t>
            </a:r>
          </a:p>
          <a:p>
            <a:pPr marL="457200" indent="-457200">
              <a:lnSpc>
                <a:spcPts val="3625"/>
              </a:lnSpc>
              <a:buFont typeface="Wingdings" panose="05000000000000000000" pitchFamily="2" charset="2"/>
              <a:buChar char="q"/>
            </a:pPr>
            <a:r>
              <a:rPr lang="en-US" sz="2800" spc="51">
                <a:solidFill>
                  <a:srgbClr val="000000"/>
                </a:solidFill>
                <a:latin typeface="Open Sauce"/>
                <a:ea typeface="Open Sauce Bold"/>
                <a:cs typeface="Open Sauce Bold"/>
                <a:sym typeface="Open Sauce"/>
              </a:rPr>
              <a:t>30% improvement</a:t>
            </a:r>
          </a:p>
          <a:p>
            <a:pPr>
              <a:lnSpc>
                <a:spcPts val="3625"/>
              </a:lnSpc>
            </a:pPr>
            <a:endParaRPr lang="en-US" sz="2800" b="1" spc="51">
              <a:solidFill>
                <a:srgbClr val="000000"/>
              </a:solidFill>
              <a:latin typeface="Open Sauce"/>
              <a:ea typeface="Open Sauce Bold"/>
              <a:cs typeface="Open Sauce Bold"/>
              <a:sym typeface="Open Sauce"/>
            </a:endParaRPr>
          </a:p>
          <a:p>
            <a:pPr>
              <a:lnSpc>
                <a:spcPts val="3625"/>
              </a:lnSpc>
            </a:pPr>
            <a:endParaRPr lang="en-US" sz="2800" b="1" spc="5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" name="TextBox 20">
            <a:extLst>
              <a:ext uri="{FF2B5EF4-FFF2-40B4-BE49-F238E27FC236}">
                <a16:creationId xmlns:a16="http://schemas.microsoft.com/office/drawing/2014/main" id="{FD5EE6DC-A5CD-0FDA-D080-FB0ABE3E828D}"/>
              </a:ext>
            </a:extLst>
          </p:cNvPr>
          <p:cNvSpPr txBox="1"/>
          <p:nvPr/>
        </p:nvSpPr>
        <p:spPr>
          <a:xfrm>
            <a:off x="16916400" y="9486900"/>
            <a:ext cx="829605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50983" y="889901"/>
            <a:ext cx="0" cy="951969"/>
          </a:xfrm>
          <a:prstGeom prst="line">
            <a:avLst/>
          </a:prstGeom>
          <a:ln w="190500" cap="flat">
            <a:solidFill>
              <a:srgbClr val="FF821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14450" y="3587649"/>
            <a:ext cx="5480151" cy="548015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8F4EE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821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14450" y="962025"/>
            <a:ext cx="8115300" cy="702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 spc="-84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4450" y="2095482"/>
            <a:ext cx="9556696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streamlined hiring platform that powered by intelligent data analysis for better matches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403924" y="3587649"/>
            <a:ext cx="5480151" cy="548015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8F4EE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821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493399" y="3587649"/>
            <a:ext cx="5480151" cy="548015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8F4EE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821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157877" y="5801309"/>
            <a:ext cx="3972245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Highlight</a:t>
            </a:r>
            <a:r>
              <a:rPr lang="en-US" sz="2799" u="none" strike="noStrike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skill and culture fit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68403" y="5801309"/>
            <a:ext cx="3972245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Scr</a:t>
            </a:r>
            <a:r>
              <a:rPr lang="en-US" sz="2799" u="none" strike="noStrike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eens applicants faster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247352" y="5801309"/>
            <a:ext cx="3972245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</a:t>
            </a:r>
            <a:r>
              <a:rPr lang="en-US" sz="2799" u="none" strike="noStrike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mplifies interview coordination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D84769E6-BD77-C608-84CF-74C3B8F04FB8}"/>
              </a:ext>
            </a:extLst>
          </p:cNvPr>
          <p:cNvSpPr txBox="1"/>
          <p:nvPr/>
        </p:nvSpPr>
        <p:spPr>
          <a:xfrm>
            <a:off x="16916400" y="9486900"/>
            <a:ext cx="829605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4EE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50983" y="889901"/>
            <a:ext cx="0" cy="951969"/>
          </a:xfrm>
          <a:prstGeom prst="line">
            <a:avLst/>
          </a:prstGeom>
          <a:ln w="190500" cap="flat">
            <a:solidFill>
              <a:srgbClr val="FF821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56763" y="3196520"/>
            <a:ext cx="3823296" cy="2282250"/>
            <a:chOff x="0" y="0"/>
            <a:chExt cx="567060" cy="3384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67060" cy="338497"/>
            </a:xfrm>
            <a:custGeom>
              <a:avLst/>
              <a:gdLst/>
              <a:ahLst/>
              <a:cxnLst/>
              <a:rect l="l" t="t" r="r" b="b"/>
              <a:pathLst>
                <a:path w="567060" h="338497">
                  <a:moveTo>
                    <a:pt x="0" y="0"/>
                  </a:moveTo>
                  <a:lnTo>
                    <a:pt x="567060" y="0"/>
                  </a:lnTo>
                  <a:lnTo>
                    <a:pt x="567060" y="338497"/>
                  </a:lnTo>
                  <a:lnTo>
                    <a:pt x="0" y="338497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8F4EE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821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67060" cy="376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14450" y="962025"/>
            <a:ext cx="8115300" cy="702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 spc="-84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SYSTEM ARCHITECTURE &amp; DESIGN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76507" y="3637112"/>
            <a:ext cx="2781660" cy="135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</a:pPr>
            <a:r>
              <a:rPr lang="en-US" sz="2589" b="1" spc="5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Input:</a:t>
            </a:r>
          </a:p>
          <a:p>
            <a:pPr algn="ctr">
              <a:lnSpc>
                <a:spcPts val="3625"/>
              </a:lnSpc>
              <a:spcBef>
                <a:spcPct val="0"/>
              </a:spcBef>
            </a:pPr>
            <a:r>
              <a:rPr lang="en-US" sz="2589" spc="5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Resume text file (.pdf, .docx)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204150" y="3196520"/>
            <a:ext cx="3823296" cy="2282250"/>
            <a:chOff x="0" y="0"/>
            <a:chExt cx="567060" cy="3384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7060" cy="338497"/>
            </a:xfrm>
            <a:custGeom>
              <a:avLst/>
              <a:gdLst/>
              <a:ahLst/>
              <a:cxnLst/>
              <a:rect l="l" t="t" r="r" b="b"/>
              <a:pathLst>
                <a:path w="567060" h="338497">
                  <a:moveTo>
                    <a:pt x="0" y="0"/>
                  </a:moveTo>
                  <a:lnTo>
                    <a:pt x="567060" y="0"/>
                  </a:lnTo>
                  <a:lnTo>
                    <a:pt x="567060" y="338497"/>
                  </a:lnTo>
                  <a:lnTo>
                    <a:pt x="0" y="338497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8F4EE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821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67060" cy="376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845916" y="3442528"/>
            <a:ext cx="2781660" cy="1790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spcBef>
                <a:spcPct val="0"/>
              </a:spcBef>
            </a:pPr>
            <a:r>
              <a:rPr lang="en-US" sz="2000" spc="5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Text preprocessing</a:t>
            </a:r>
          </a:p>
          <a:p>
            <a:pPr algn="ctr">
              <a:lnSpc>
                <a:spcPts val="3625"/>
              </a:lnSpc>
              <a:spcBef>
                <a:spcPct val="0"/>
              </a:spcBef>
            </a:pPr>
            <a:r>
              <a:rPr lang="en-US" sz="2000" spc="51">
                <a:solidFill>
                  <a:srgbClr val="000000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Text cleaning, tokenization, TF-IDF, structured features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256045" y="3196520"/>
            <a:ext cx="3823296" cy="2282250"/>
            <a:chOff x="0" y="0"/>
            <a:chExt cx="567060" cy="3384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7060" cy="338497"/>
            </a:xfrm>
            <a:custGeom>
              <a:avLst/>
              <a:gdLst/>
              <a:ahLst/>
              <a:cxnLst/>
              <a:rect l="l" t="t" r="r" b="b"/>
              <a:pathLst>
                <a:path w="567060" h="338497">
                  <a:moveTo>
                    <a:pt x="0" y="0"/>
                  </a:moveTo>
                  <a:lnTo>
                    <a:pt x="567060" y="0"/>
                  </a:lnTo>
                  <a:lnTo>
                    <a:pt x="567060" y="338497"/>
                  </a:lnTo>
                  <a:lnTo>
                    <a:pt x="0" y="338497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8F4EE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821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567060" cy="376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647478" y="3442528"/>
            <a:ext cx="3178597" cy="194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487" b="1" spc="4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Ensemble Prediction Layer:</a:t>
            </a:r>
          </a:p>
          <a:p>
            <a:pPr marL="433455" lvl="1" indent="-216727" algn="l">
              <a:lnSpc>
                <a:spcPts val="2810"/>
              </a:lnSpc>
              <a:buFont typeface="Arial"/>
              <a:buChar char="•"/>
            </a:pPr>
            <a:r>
              <a:rPr lang="en-US" sz="2007" spc="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Random Forest(98.6%)</a:t>
            </a:r>
          </a:p>
          <a:p>
            <a:pPr marL="433455" lvl="1" indent="-216727" algn="l">
              <a:lnSpc>
                <a:spcPts val="2810"/>
              </a:lnSpc>
              <a:buFont typeface="Arial"/>
              <a:buChar char="•"/>
            </a:pPr>
            <a:r>
              <a:rPr lang="en-US" sz="2007" spc="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BERT (99.12%)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3307941" y="3196520"/>
            <a:ext cx="3823296" cy="2282250"/>
            <a:chOff x="0" y="0"/>
            <a:chExt cx="567060" cy="33849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67060" cy="338497"/>
            </a:xfrm>
            <a:custGeom>
              <a:avLst/>
              <a:gdLst/>
              <a:ahLst/>
              <a:cxnLst/>
              <a:rect l="l" t="t" r="r" b="b"/>
              <a:pathLst>
                <a:path w="567060" h="338497">
                  <a:moveTo>
                    <a:pt x="0" y="0"/>
                  </a:moveTo>
                  <a:lnTo>
                    <a:pt x="567060" y="0"/>
                  </a:lnTo>
                  <a:lnTo>
                    <a:pt x="567060" y="338497"/>
                  </a:lnTo>
                  <a:lnTo>
                    <a:pt x="0" y="338497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8F4EE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821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567060" cy="376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55689" y="6052354"/>
            <a:ext cx="3823296" cy="2282250"/>
            <a:chOff x="0" y="0"/>
            <a:chExt cx="567060" cy="33849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67060" cy="338497"/>
            </a:xfrm>
            <a:custGeom>
              <a:avLst/>
              <a:gdLst/>
              <a:ahLst/>
              <a:cxnLst/>
              <a:rect l="l" t="t" r="r" b="b"/>
              <a:pathLst>
                <a:path w="567060" h="338497">
                  <a:moveTo>
                    <a:pt x="0" y="0"/>
                  </a:moveTo>
                  <a:lnTo>
                    <a:pt x="567060" y="0"/>
                  </a:lnTo>
                  <a:lnTo>
                    <a:pt x="567060" y="338497"/>
                  </a:lnTo>
                  <a:lnTo>
                    <a:pt x="0" y="338497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8F4EE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821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567060" cy="376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677581" y="6721547"/>
            <a:ext cx="2781660" cy="8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</a:pPr>
            <a:r>
              <a:rPr lang="en-US" sz="2589" b="1" spc="5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Train/Test Split</a:t>
            </a:r>
          </a:p>
          <a:p>
            <a:pPr algn="ctr">
              <a:lnSpc>
                <a:spcPts val="3625"/>
              </a:lnSpc>
              <a:spcBef>
                <a:spcPct val="0"/>
              </a:spcBef>
            </a:pPr>
            <a:r>
              <a:rPr lang="en-US" sz="2589" spc="5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(80/20)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204150" y="6052354"/>
            <a:ext cx="3823296" cy="2282250"/>
            <a:chOff x="0" y="0"/>
            <a:chExt cx="567060" cy="33849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67060" cy="338497"/>
            </a:xfrm>
            <a:custGeom>
              <a:avLst/>
              <a:gdLst/>
              <a:ahLst/>
              <a:cxnLst/>
              <a:rect l="l" t="t" r="r" b="b"/>
              <a:pathLst>
                <a:path w="567060" h="338497">
                  <a:moveTo>
                    <a:pt x="0" y="0"/>
                  </a:moveTo>
                  <a:lnTo>
                    <a:pt x="567060" y="0"/>
                  </a:lnTo>
                  <a:lnTo>
                    <a:pt x="567060" y="338497"/>
                  </a:lnTo>
                  <a:lnTo>
                    <a:pt x="0" y="338497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8F4EE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821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567060" cy="376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724967" y="6721547"/>
            <a:ext cx="2781660" cy="8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spcBef>
                <a:spcPct val="0"/>
              </a:spcBef>
            </a:pPr>
            <a:r>
              <a:rPr lang="en-US" sz="2589" b="1" spc="5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ML model training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256045" y="6052354"/>
            <a:ext cx="3823296" cy="2282250"/>
            <a:chOff x="0" y="0"/>
            <a:chExt cx="567060" cy="33849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67060" cy="338497"/>
            </a:xfrm>
            <a:custGeom>
              <a:avLst/>
              <a:gdLst/>
              <a:ahLst/>
              <a:cxnLst/>
              <a:rect l="l" t="t" r="r" b="b"/>
              <a:pathLst>
                <a:path w="567060" h="338497">
                  <a:moveTo>
                    <a:pt x="0" y="0"/>
                  </a:moveTo>
                  <a:lnTo>
                    <a:pt x="567060" y="0"/>
                  </a:lnTo>
                  <a:lnTo>
                    <a:pt x="567060" y="338497"/>
                  </a:lnTo>
                  <a:lnTo>
                    <a:pt x="0" y="338497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8F4EE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821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567060" cy="376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770395" y="6492947"/>
            <a:ext cx="2781660" cy="135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spcBef>
                <a:spcPct val="0"/>
              </a:spcBef>
            </a:pPr>
            <a:r>
              <a:rPr lang="en-US" sz="2589" b="1" spc="5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Evaluation &amp; prediction output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33056" y="3360438"/>
            <a:ext cx="243451" cy="581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1"/>
              </a:lnSpc>
              <a:spcBef>
                <a:spcPct val="0"/>
              </a:spcBef>
            </a:pPr>
            <a:r>
              <a:rPr lang="en-US" sz="3401" spc="68">
                <a:solidFill>
                  <a:srgbClr val="FF8210"/>
                </a:solidFill>
                <a:latin typeface="Open Sauce"/>
                <a:ea typeface="Open Sauce"/>
                <a:cs typeface="Open Sauce"/>
                <a:sym typeface="Open Sauce"/>
              </a:rPr>
              <a:t>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488602" y="6216272"/>
            <a:ext cx="243451" cy="581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1"/>
              </a:lnSpc>
              <a:spcBef>
                <a:spcPct val="0"/>
              </a:spcBef>
            </a:pPr>
            <a:r>
              <a:rPr lang="en-US" sz="3401" spc="68">
                <a:solidFill>
                  <a:srgbClr val="FF8210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33056" y="6216272"/>
            <a:ext cx="243451" cy="581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1"/>
              </a:lnSpc>
              <a:spcBef>
                <a:spcPct val="0"/>
              </a:spcBef>
            </a:pPr>
            <a:r>
              <a:rPr lang="en-US" sz="3401" spc="68">
                <a:solidFill>
                  <a:srgbClr val="FF8210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488602" y="3331414"/>
            <a:ext cx="243451" cy="581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1"/>
              </a:lnSpc>
              <a:spcBef>
                <a:spcPct val="0"/>
              </a:spcBef>
            </a:pPr>
            <a:r>
              <a:rPr lang="en-US" sz="3401" spc="68">
                <a:solidFill>
                  <a:srgbClr val="FF8210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544148" y="3331414"/>
            <a:ext cx="243451" cy="581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1"/>
              </a:lnSpc>
              <a:spcBef>
                <a:spcPct val="0"/>
              </a:spcBef>
            </a:pPr>
            <a:r>
              <a:rPr lang="en-US" sz="3401" spc="68">
                <a:solidFill>
                  <a:srgbClr val="FF8210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593691" y="3360438"/>
            <a:ext cx="243451" cy="581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1"/>
              </a:lnSpc>
              <a:spcBef>
                <a:spcPct val="0"/>
              </a:spcBef>
            </a:pPr>
            <a:r>
              <a:rPr lang="en-US" sz="3401" spc="68">
                <a:solidFill>
                  <a:srgbClr val="FF8210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541795" y="6216272"/>
            <a:ext cx="243451" cy="581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1"/>
              </a:lnSpc>
              <a:spcBef>
                <a:spcPct val="0"/>
              </a:spcBef>
            </a:pPr>
            <a:r>
              <a:rPr lang="en-US" sz="3401" spc="68">
                <a:solidFill>
                  <a:srgbClr val="FF8210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22BD21AB-1888-630B-9756-EE4808E0D763}"/>
              </a:ext>
            </a:extLst>
          </p:cNvPr>
          <p:cNvSpPr txBox="1"/>
          <p:nvPr/>
        </p:nvSpPr>
        <p:spPr>
          <a:xfrm>
            <a:off x="13715416" y="3545024"/>
            <a:ext cx="3178597" cy="1585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487" b="1" spc="4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Explainability</a:t>
            </a:r>
          </a:p>
          <a:p>
            <a:pPr algn="ctr">
              <a:lnSpc>
                <a:spcPts val="3483"/>
              </a:lnSpc>
            </a:pPr>
            <a:r>
              <a:rPr lang="en-US" sz="2487" b="1" spc="4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Layer:</a:t>
            </a:r>
          </a:p>
          <a:p>
            <a:pPr marL="433455" lvl="1" indent="-216727" algn="l">
              <a:lnSpc>
                <a:spcPts val="2810"/>
              </a:lnSpc>
              <a:buFont typeface="Arial"/>
              <a:buChar char="•"/>
            </a:pPr>
            <a:r>
              <a:rPr lang="en-US" sz="2007" spc="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SHAP</a:t>
            </a:r>
          </a:p>
          <a:p>
            <a:pPr marL="433455" lvl="1" indent="-216727" algn="l">
              <a:lnSpc>
                <a:spcPts val="2810"/>
              </a:lnSpc>
              <a:buFont typeface="Arial"/>
              <a:buChar char="•"/>
            </a:pPr>
            <a:r>
              <a:rPr lang="en-US" sz="2007" spc="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LIME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3649E98-3411-ED0D-C8A2-BC007388DA24}"/>
              </a:ext>
            </a:extLst>
          </p:cNvPr>
          <p:cNvSpPr txBox="1"/>
          <p:nvPr/>
        </p:nvSpPr>
        <p:spPr>
          <a:xfrm>
            <a:off x="16916400" y="9486900"/>
            <a:ext cx="829605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3768B5D-A79F-8E53-8549-DCF31650B111}"/>
              </a:ext>
            </a:extLst>
          </p:cNvPr>
          <p:cNvSpPr/>
          <p:nvPr/>
        </p:nvSpPr>
        <p:spPr>
          <a:xfrm flipV="1">
            <a:off x="850983" y="889901"/>
            <a:ext cx="0" cy="951969"/>
          </a:xfrm>
          <a:prstGeom prst="line">
            <a:avLst/>
          </a:prstGeom>
          <a:ln w="190500" cap="flat">
            <a:solidFill>
              <a:srgbClr val="FF821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6A9DB6A-44A1-AD00-E128-63F189637511}"/>
              </a:ext>
            </a:extLst>
          </p:cNvPr>
          <p:cNvGrpSpPr/>
          <p:nvPr/>
        </p:nvGrpSpPr>
        <p:grpSpPr>
          <a:xfrm>
            <a:off x="1082777" y="1562100"/>
            <a:ext cx="15757423" cy="8126730"/>
            <a:chOff x="0" y="0"/>
            <a:chExt cx="567060" cy="33849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10D3ADB-4E21-981D-F6EB-19BA7DEBDB7C}"/>
                </a:ext>
              </a:extLst>
            </p:cNvPr>
            <p:cNvSpPr/>
            <p:nvPr/>
          </p:nvSpPr>
          <p:spPr>
            <a:xfrm>
              <a:off x="0" y="0"/>
              <a:ext cx="567060" cy="338497"/>
            </a:xfrm>
            <a:custGeom>
              <a:avLst/>
              <a:gdLst/>
              <a:ahLst/>
              <a:cxnLst/>
              <a:rect l="l" t="t" r="r" b="b"/>
              <a:pathLst>
                <a:path w="567060" h="338497">
                  <a:moveTo>
                    <a:pt x="0" y="0"/>
                  </a:moveTo>
                  <a:lnTo>
                    <a:pt x="567060" y="0"/>
                  </a:lnTo>
                  <a:lnTo>
                    <a:pt x="567060" y="338497"/>
                  </a:lnTo>
                  <a:lnTo>
                    <a:pt x="0" y="338497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8F4EE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821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7C25E0D-C5B2-9F80-6239-3C2984606D1A}"/>
                </a:ext>
              </a:extLst>
            </p:cNvPr>
            <p:cNvSpPr txBox="1"/>
            <p:nvPr/>
          </p:nvSpPr>
          <p:spPr>
            <a:xfrm>
              <a:off x="0" y="-38100"/>
              <a:ext cx="567060" cy="376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9F6445AF-CDBA-942F-3A5E-51A1E99EB917}"/>
              </a:ext>
            </a:extLst>
          </p:cNvPr>
          <p:cNvSpPr txBox="1"/>
          <p:nvPr/>
        </p:nvSpPr>
        <p:spPr>
          <a:xfrm>
            <a:off x="1314450" y="962025"/>
            <a:ext cx="8115300" cy="702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 spc="-84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ALGORITHMIC IMPLEMENTATION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3E7425B-5658-A0E2-A45F-32CC3C7CFE07}"/>
              </a:ext>
            </a:extLst>
          </p:cNvPr>
          <p:cNvSpPr txBox="1"/>
          <p:nvPr/>
        </p:nvSpPr>
        <p:spPr>
          <a:xfrm>
            <a:off x="1626626" y="1841870"/>
            <a:ext cx="15034748" cy="8340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25"/>
              </a:lnSpc>
            </a:pPr>
            <a:r>
              <a:rPr lang="en-US" sz="2800" b="1" spc="51">
                <a:solidFill>
                  <a:schemeClr val="accent6">
                    <a:lumMod val="75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Here’s how we apply A* to resume screening</a:t>
            </a:r>
          </a:p>
          <a:p>
            <a:pPr>
              <a:buNone/>
            </a:pPr>
            <a:r>
              <a:rPr lang="en-US" sz="2000">
                <a:latin typeface="Open Sauce" panose="020B0604020202020204" charset="0"/>
              </a:rPr>
              <a:t>A resume starts as raw text. It needs to go through 5 stages: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>
                <a:latin typeface="Open Sauce" panose="020B0604020202020204" charset="0"/>
              </a:rPr>
              <a:t>Preprocess (clean text)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>
                <a:latin typeface="Open Sauce" panose="020B0604020202020204" charset="0"/>
              </a:rPr>
              <a:t>Extract Features (convert to numbers)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>
                <a:latin typeface="Open Sauce" panose="020B0604020202020204" charset="0"/>
              </a:rPr>
              <a:t>Score Categories (compute confidence)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>
                <a:latin typeface="Open Sauce" panose="020B0604020202020204" charset="0"/>
              </a:rPr>
              <a:t>Categorize (select best job)</a:t>
            </a:r>
          </a:p>
          <a:p>
            <a:pPr>
              <a:buFont typeface="+mj-lt"/>
              <a:buAutoNum type="arabicPeriod"/>
            </a:pPr>
            <a:r>
              <a:rPr lang="en-US" sz="2400" b="1">
                <a:latin typeface="Open Sauce" panose="020B0604020202020204" charset="0"/>
              </a:rPr>
              <a:t>    Explain (generate SHAP/LIME explanation)</a:t>
            </a:r>
          </a:p>
          <a:p>
            <a:pPr>
              <a:buNone/>
            </a:pPr>
            <a:r>
              <a:rPr lang="en-US" sz="2000">
                <a:latin typeface="Open Sauce" panose="020B0604020202020204" charset="0"/>
              </a:rPr>
              <a:t>Using A*, we find the optimal path through this pipeline. The search expands stages in the right order, ensuring we reach the goal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latin typeface="Open Sauce" panose="020B0604020202020204" charset="0"/>
              </a:rPr>
              <a:t>At stage 0: g(n)=0, h(n)=5, f(n)=5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latin typeface="Open Sauce" panose="020B0604020202020204" charset="0"/>
              </a:rPr>
              <a:t>At stage 2: g(n)=2, h(n)=3, f(n)=5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latin typeface="Open Sauce" panose="020B0604020202020204" charset="0"/>
              </a:rPr>
              <a:t>At goal: g(n)=5, h(n)=0, f(n)=5</a:t>
            </a:r>
          </a:p>
          <a:p>
            <a:endParaRPr lang="en-US" sz="2400">
              <a:latin typeface="Open Sauce" panose="020B0604020202020204" charset="0"/>
            </a:endParaRPr>
          </a:p>
          <a:p>
            <a:r>
              <a:rPr lang="en-US" sz="2800" b="1">
                <a:solidFill>
                  <a:schemeClr val="accent6">
                    <a:lumMod val="75000"/>
                  </a:schemeClr>
                </a:solidFill>
                <a:latin typeface="Open Sauce" panose="020B0604020202020204" charset="0"/>
              </a:rPr>
              <a:t>Key Properties </a:t>
            </a:r>
          </a:p>
          <a:p>
            <a:r>
              <a:rPr lang="en-US" sz="2400" b="1">
                <a:latin typeface="Open Sauce" panose="020B0604020202020204" charset="0"/>
              </a:rPr>
              <a:t>Optimal:</a:t>
            </a:r>
            <a:r>
              <a:rPr lang="en-US" sz="2400">
                <a:latin typeface="Open Sauce" panose="020B0604020202020204" charset="0"/>
              </a:rPr>
              <a:t> </a:t>
            </a:r>
            <a:r>
              <a:rPr lang="en-US" sz="2000">
                <a:latin typeface="Open Sauce" panose="020B0604020202020204" charset="0"/>
              </a:rPr>
              <a:t>It ALWAYS finds the best solution, not just any solution. This is guaranteed if our heuristic h(n) is admissible meaning it never overestimates</a:t>
            </a:r>
            <a:r>
              <a:rPr lang="en-US" sz="2400">
                <a:latin typeface="Open Sauce" panose="020B0604020202020204" charset="0"/>
              </a:rPr>
              <a:t>.</a:t>
            </a:r>
          </a:p>
          <a:p>
            <a:r>
              <a:rPr lang="en-US" sz="2400" b="1">
                <a:latin typeface="Open Sauce" panose="020B0604020202020204" charset="0"/>
              </a:rPr>
              <a:t>Complete</a:t>
            </a:r>
            <a:r>
              <a:rPr lang="en-US" sz="2000" b="1">
                <a:latin typeface="Open Sauce" panose="020B0604020202020204" charset="0"/>
              </a:rPr>
              <a:t>:</a:t>
            </a:r>
            <a:r>
              <a:rPr lang="en-US" sz="2000">
                <a:latin typeface="Open Sauce" panose="020B0604020202020204" charset="0"/>
              </a:rPr>
              <a:t> If a solution exists, A* will find it. It never gets stuck.</a:t>
            </a:r>
          </a:p>
          <a:p>
            <a:r>
              <a:rPr lang="en-US" sz="2400" b="1">
                <a:latin typeface="Open Sauce" panose="020B0604020202020204" charset="0"/>
              </a:rPr>
              <a:t>Efficient:</a:t>
            </a:r>
            <a:r>
              <a:rPr lang="en-US" sz="2400">
                <a:latin typeface="Open Sauce" panose="020B0604020202020204" charset="0"/>
              </a:rPr>
              <a:t> </a:t>
            </a:r>
            <a:r>
              <a:rPr lang="en-US" sz="2000">
                <a:latin typeface="Open Sauce" panose="020B0604020202020204" charset="0"/>
              </a:rPr>
              <a:t>A* expands fewer nodes than uninformed algorithms like BFS. We explored this in benchmarking 810 resumes per second.</a:t>
            </a:r>
          </a:p>
          <a:p>
            <a:r>
              <a:rPr lang="en-US" sz="2400" b="1">
                <a:latin typeface="Open Sauce" panose="020B0604020202020204" charset="0"/>
              </a:rPr>
              <a:t>Practical:</a:t>
            </a:r>
            <a:r>
              <a:rPr lang="en-US" sz="2400">
                <a:latin typeface="Open Sauce" panose="020B0604020202020204" charset="0"/>
              </a:rPr>
              <a:t> </a:t>
            </a:r>
            <a:r>
              <a:rPr lang="en-US" sz="2000">
                <a:latin typeface="Open Sauce" panose="020B0604020202020204" charset="0"/>
              </a:rPr>
              <a:t>Unlike theory, A* actually works on real problems. We use it in GPSs, video games, robotics. Here we use it for resume screening."</a:t>
            </a:r>
          </a:p>
          <a:p>
            <a:endParaRPr lang="en-US" sz="2400">
              <a:latin typeface="Open Sauce" panose="020B0604020202020204" charset="0"/>
            </a:endParaRPr>
          </a:p>
          <a:p>
            <a:endParaRPr lang="en-US" sz="2400">
              <a:latin typeface="Open Sauce" panose="020B0604020202020204" charset="0"/>
            </a:endParaRPr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BF86673B-D958-6F61-1C19-2A824206909B}"/>
              </a:ext>
            </a:extLst>
          </p:cNvPr>
          <p:cNvSpPr txBox="1"/>
          <p:nvPr/>
        </p:nvSpPr>
        <p:spPr>
          <a:xfrm>
            <a:off x="16916400" y="9486900"/>
            <a:ext cx="829605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10998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4EE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50983" y="889901"/>
            <a:ext cx="0" cy="951969"/>
          </a:xfrm>
          <a:prstGeom prst="line">
            <a:avLst/>
          </a:prstGeom>
          <a:ln w="190500" cap="flat">
            <a:solidFill>
              <a:srgbClr val="FF821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314449" y="962025"/>
            <a:ext cx="9173061" cy="693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 spc="-84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DATA HANDLING &amp; FEATURE ENGINEERING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2071143"/>
            <a:ext cx="7839165" cy="2999855"/>
            <a:chOff x="0" y="0"/>
            <a:chExt cx="1162682" cy="4449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62682" cy="444930"/>
            </a:xfrm>
            <a:custGeom>
              <a:avLst/>
              <a:gdLst/>
              <a:ahLst/>
              <a:cxnLst/>
              <a:rect l="l" t="t" r="r" b="b"/>
              <a:pathLst>
                <a:path w="1162682" h="444930">
                  <a:moveTo>
                    <a:pt x="0" y="0"/>
                  </a:moveTo>
                  <a:lnTo>
                    <a:pt x="1162682" y="0"/>
                  </a:lnTo>
                  <a:lnTo>
                    <a:pt x="1162682" y="444930"/>
                  </a:lnTo>
                  <a:lnTo>
                    <a:pt x="0" y="444930"/>
                  </a:lnTo>
                  <a:close/>
                </a:path>
              </a:pathLst>
            </a:custGeom>
            <a:solidFill>
              <a:srgbClr val="FFEBCD"/>
            </a:solidFill>
            <a:ln w="9525" cap="sq">
              <a:solidFill>
                <a:srgbClr val="FF821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62682" cy="4830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02659" y="2071143"/>
            <a:ext cx="7839165" cy="6975067"/>
            <a:chOff x="0" y="0"/>
            <a:chExt cx="1162682" cy="10345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62682" cy="1034521"/>
            </a:xfrm>
            <a:custGeom>
              <a:avLst/>
              <a:gdLst/>
              <a:ahLst/>
              <a:cxnLst/>
              <a:rect l="l" t="t" r="r" b="b"/>
              <a:pathLst>
                <a:path w="1162682" h="1034521">
                  <a:moveTo>
                    <a:pt x="0" y="0"/>
                  </a:moveTo>
                  <a:lnTo>
                    <a:pt x="1162682" y="0"/>
                  </a:lnTo>
                  <a:lnTo>
                    <a:pt x="1162682" y="1034521"/>
                  </a:lnTo>
                  <a:lnTo>
                    <a:pt x="0" y="1034521"/>
                  </a:lnTo>
                  <a:close/>
                </a:path>
              </a:pathLst>
            </a:custGeom>
            <a:solidFill>
              <a:srgbClr val="FFEBCD"/>
            </a:solidFill>
            <a:ln w="9525" cap="sq">
              <a:solidFill>
                <a:srgbClr val="FF821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62682" cy="107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363200" y="2453614"/>
            <a:ext cx="6469454" cy="68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2"/>
              </a:lnSpc>
            </a:pPr>
            <a:r>
              <a:rPr lang="en-US" sz="3401" b="1" spc="6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Techniques used</a:t>
            </a:r>
          </a:p>
          <a:p>
            <a:pPr marL="681973" lvl="1" indent="-340987" algn="l">
              <a:lnSpc>
                <a:spcPts val="4422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URL &amp; email removal</a:t>
            </a:r>
          </a:p>
          <a:p>
            <a:pPr marL="681973" lvl="1" indent="-340987" algn="l">
              <a:lnSpc>
                <a:spcPts val="4422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special character filtering</a:t>
            </a:r>
          </a:p>
          <a:p>
            <a:pPr marL="681973" lvl="1" indent="-340987" algn="l">
              <a:lnSpc>
                <a:spcPts val="4422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Lowercasing</a:t>
            </a:r>
          </a:p>
          <a:p>
            <a:pPr marL="681973" lvl="1" indent="-340987" algn="l">
              <a:lnSpc>
                <a:spcPts val="4422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Whitespace normalization</a:t>
            </a:r>
          </a:p>
          <a:p>
            <a:pPr marL="681973" lvl="1" indent="-340987" algn="l">
              <a:lnSpc>
                <a:spcPts val="4422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Unigrams + bigrams</a:t>
            </a:r>
          </a:p>
          <a:p>
            <a:pPr marL="681973" lvl="1" indent="-340987" algn="l">
              <a:lnSpc>
                <a:spcPts val="4422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Number of skills</a:t>
            </a:r>
          </a:p>
          <a:p>
            <a:pPr marL="681973" lvl="1" indent="-340987" algn="l">
              <a:lnSpc>
                <a:spcPts val="4422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Word count</a:t>
            </a:r>
          </a:p>
          <a:p>
            <a:pPr marL="681973" lvl="1" indent="-340987" algn="l">
              <a:lnSpc>
                <a:spcPts val="4422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Resume length</a:t>
            </a:r>
          </a:p>
          <a:p>
            <a:pPr marL="681973" lvl="1" indent="-340987" algn="l">
              <a:lnSpc>
                <a:spcPts val="4422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Final sparse matrix 2484x303</a:t>
            </a:r>
          </a:p>
          <a:p>
            <a:pPr marL="681973" lvl="1" indent="-340987" algn="l">
              <a:lnSpc>
                <a:spcPts val="4422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80% – 20% split</a:t>
            </a:r>
          </a:p>
          <a:p>
            <a:pPr marL="0" lvl="0" indent="0" algn="l">
              <a:lnSpc>
                <a:spcPts val="4762"/>
              </a:lnSpc>
              <a:spcBef>
                <a:spcPct val="0"/>
              </a:spcBef>
            </a:pPr>
            <a:endParaRPr lang="en-US" sz="3158" spc="63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028700" y="5860060"/>
            <a:ext cx="7839165" cy="3211945"/>
            <a:chOff x="0" y="0"/>
            <a:chExt cx="1162682" cy="47638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62682" cy="476386"/>
            </a:xfrm>
            <a:custGeom>
              <a:avLst/>
              <a:gdLst/>
              <a:ahLst/>
              <a:cxnLst/>
              <a:rect l="l" t="t" r="r" b="b"/>
              <a:pathLst>
                <a:path w="1162682" h="476386">
                  <a:moveTo>
                    <a:pt x="0" y="0"/>
                  </a:moveTo>
                  <a:lnTo>
                    <a:pt x="1162682" y="0"/>
                  </a:lnTo>
                  <a:lnTo>
                    <a:pt x="1162682" y="476386"/>
                  </a:lnTo>
                  <a:lnTo>
                    <a:pt x="0" y="476386"/>
                  </a:lnTo>
                  <a:close/>
                </a:path>
              </a:pathLst>
            </a:custGeom>
            <a:solidFill>
              <a:srgbClr val="FFEBCD"/>
            </a:solidFill>
            <a:ln w="9525" cap="sq">
              <a:solidFill>
                <a:srgbClr val="FF821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62682" cy="514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331032" y="2167989"/>
            <a:ext cx="6153168" cy="280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75"/>
              </a:lnSpc>
            </a:pPr>
            <a:r>
              <a:rPr lang="en-US" sz="3268" b="1" spc="6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Dataset</a:t>
            </a:r>
          </a:p>
          <a:p>
            <a:pPr marL="686060" lvl="1" indent="-343030" algn="just">
              <a:lnSpc>
                <a:spcPts val="4448"/>
              </a:lnSpc>
              <a:buFont typeface="Arial"/>
              <a:buChar char="•"/>
            </a:pPr>
            <a:r>
              <a:rPr lang="en-US" sz="3177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2484 resumes</a:t>
            </a:r>
          </a:p>
          <a:p>
            <a:pPr marL="686060" lvl="1" indent="-343030" algn="just">
              <a:lnSpc>
                <a:spcPts val="4448"/>
              </a:lnSpc>
              <a:buFont typeface="Arial"/>
              <a:buChar char="•"/>
            </a:pPr>
            <a:r>
              <a:rPr lang="en-US" sz="3177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25 job categories </a:t>
            </a:r>
          </a:p>
          <a:p>
            <a:pPr marL="686060" lvl="1" indent="-343030" algn="just">
              <a:lnSpc>
                <a:spcPts val="4448"/>
              </a:lnSpc>
              <a:buFont typeface="Arial"/>
              <a:buChar char="•"/>
            </a:pPr>
            <a:r>
              <a:rPr lang="en-US" sz="3177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 missing values</a:t>
            </a:r>
          </a:p>
          <a:p>
            <a:pPr marL="686060" lvl="1" indent="-343030" algn="just">
              <a:lnSpc>
                <a:spcPts val="4448"/>
              </a:lnSpc>
              <a:buFont typeface="Arial"/>
              <a:buChar char="•"/>
            </a:pPr>
            <a:r>
              <a:rPr lang="en-US" sz="3177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balanced class distribution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86B958-C0D9-8E20-51C6-E3C78134E67E}"/>
              </a:ext>
            </a:extLst>
          </p:cNvPr>
          <p:cNvSpPr txBox="1"/>
          <p:nvPr/>
        </p:nvSpPr>
        <p:spPr>
          <a:xfrm>
            <a:off x="1219963" y="6016821"/>
            <a:ext cx="7839164" cy="2898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575"/>
              </a:lnSpc>
            </a:pPr>
            <a:r>
              <a:rPr lang="en-US" sz="3268" b="1" spc="6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Step 1: </a:t>
            </a:r>
            <a:r>
              <a:rPr lang="en-US" sz="3268" spc="65">
                <a:solidFill>
                  <a:srgbClr val="000000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Text Cleaning</a:t>
            </a:r>
            <a:endParaRPr lang="en-US" sz="3268" b="1" spc="65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>
              <a:lnSpc>
                <a:spcPts val="4575"/>
              </a:lnSpc>
            </a:pPr>
            <a:r>
              <a:rPr lang="en-US" sz="3268" b="1" spc="65">
                <a:solidFill>
                  <a:srgbClr val="000000"/>
                </a:solidFill>
                <a:latin typeface="Open Sauce Bold"/>
                <a:ea typeface="Open Sauce"/>
                <a:cs typeface="Open Sauce"/>
                <a:sym typeface="Open Sauce Bold"/>
              </a:rPr>
              <a:t>Step 2: </a:t>
            </a:r>
            <a:r>
              <a:rPr lang="en-US" sz="3268" spc="65">
                <a:solidFill>
                  <a:srgbClr val="000000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Tokenization &amp; vectorization</a:t>
            </a:r>
            <a:endParaRPr lang="en-US" sz="3268" b="1" spc="65">
              <a:solidFill>
                <a:srgbClr val="000000"/>
              </a:solidFill>
              <a:latin typeface="Open Sauce Bold"/>
              <a:ea typeface="Open Sauce"/>
              <a:cs typeface="Open Sauce"/>
              <a:sym typeface="Open Sauce Bold"/>
            </a:endParaRPr>
          </a:p>
          <a:p>
            <a:pPr algn="just">
              <a:lnSpc>
                <a:spcPts val="4575"/>
              </a:lnSpc>
            </a:pPr>
            <a:r>
              <a:rPr lang="en-US" sz="3268" b="1" spc="65">
                <a:solidFill>
                  <a:srgbClr val="000000"/>
                </a:solidFill>
                <a:latin typeface="Open Sauce Bold"/>
                <a:ea typeface="Open Sauce"/>
                <a:cs typeface="Open Sauce"/>
                <a:sym typeface="Open Sauce Bold"/>
              </a:rPr>
              <a:t>Step 3: </a:t>
            </a:r>
            <a:r>
              <a:rPr lang="en-US" sz="3268" spc="65">
                <a:solidFill>
                  <a:srgbClr val="000000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Structured features</a:t>
            </a:r>
            <a:endParaRPr lang="en-US" sz="3268" b="1" spc="65">
              <a:solidFill>
                <a:srgbClr val="000000"/>
              </a:solidFill>
              <a:latin typeface="Open Sauce Bold"/>
              <a:ea typeface="Open Sauce"/>
              <a:cs typeface="Open Sauce"/>
              <a:sym typeface="Open Sauce Bold"/>
            </a:endParaRPr>
          </a:p>
          <a:p>
            <a:pPr algn="just">
              <a:lnSpc>
                <a:spcPts val="4575"/>
              </a:lnSpc>
            </a:pPr>
            <a:r>
              <a:rPr lang="en-US" sz="3268" b="1" spc="65">
                <a:solidFill>
                  <a:srgbClr val="000000"/>
                </a:solidFill>
                <a:latin typeface="Open Sauce Bold"/>
                <a:ea typeface="Open Sauce"/>
                <a:cs typeface="Open Sauce"/>
                <a:sym typeface="Open Sauce Bold"/>
              </a:rPr>
              <a:t>Step 4: </a:t>
            </a:r>
            <a:r>
              <a:rPr lang="en-US" sz="3268" b="1" spc="65">
                <a:solidFill>
                  <a:srgbClr val="000000"/>
                </a:solidFill>
                <a:latin typeface="Open Sauce" panose="020B0604020202020204" charset="0"/>
                <a:ea typeface="Open Sauce"/>
                <a:cs typeface="Open Sauce"/>
                <a:sym typeface="Open Sauce Bold"/>
              </a:rPr>
              <a:t>F</a:t>
            </a:r>
            <a:r>
              <a:rPr lang="en-US" sz="3268" spc="65">
                <a:solidFill>
                  <a:srgbClr val="000000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eature combination</a:t>
            </a:r>
            <a:endParaRPr lang="en-US" sz="3268" b="1" spc="65">
              <a:solidFill>
                <a:srgbClr val="000000"/>
              </a:solidFill>
              <a:latin typeface="Open Sauce Bold"/>
              <a:ea typeface="Open Sauce"/>
              <a:cs typeface="Open Sauce"/>
              <a:sym typeface="Open Sauce Bold"/>
            </a:endParaRPr>
          </a:p>
          <a:p>
            <a:pPr algn="just">
              <a:lnSpc>
                <a:spcPts val="4575"/>
              </a:lnSpc>
            </a:pPr>
            <a:r>
              <a:rPr lang="en-US" sz="3268" b="1" spc="65">
                <a:solidFill>
                  <a:srgbClr val="000000"/>
                </a:solidFill>
                <a:latin typeface="Open Sauce Bold"/>
                <a:ea typeface="Open Sauce"/>
                <a:cs typeface="Open Sauce"/>
                <a:sym typeface="Open Sauce Bold"/>
              </a:rPr>
              <a:t>Step 5: </a:t>
            </a:r>
            <a:r>
              <a:rPr lang="en-US" sz="3200" spc="65">
                <a:solidFill>
                  <a:srgbClr val="000000"/>
                </a:solidFill>
                <a:latin typeface="Open Sauce" panose="020B0604020202020204" charset="0"/>
                <a:ea typeface="Open Sauce"/>
                <a:cs typeface="Open Sauce"/>
                <a:sym typeface="Open Sauce Bold"/>
              </a:rPr>
              <a:t>Train/Test Split</a:t>
            </a:r>
            <a:endParaRPr lang="en-US" sz="3200" spc="65">
              <a:solidFill>
                <a:srgbClr val="000000"/>
              </a:solidFill>
              <a:latin typeface="Open Sauce Bold"/>
              <a:ea typeface="Open Sauce"/>
              <a:cs typeface="Open Sauce"/>
              <a:sym typeface="Open Sauce Bold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523D624B-0B46-6D88-FC8F-BD824F8D3907}"/>
              </a:ext>
            </a:extLst>
          </p:cNvPr>
          <p:cNvSpPr txBox="1"/>
          <p:nvPr/>
        </p:nvSpPr>
        <p:spPr>
          <a:xfrm>
            <a:off x="16916400" y="9486900"/>
            <a:ext cx="829605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8F4EE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50983" y="889901"/>
            <a:ext cx="0" cy="951969"/>
          </a:xfrm>
          <a:prstGeom prst="line">
            <a:avLst/>
          </a:prstGeom>
          <a:ln w="190500" cap="flat">
            <a:solidFill>
              <a:srgbClr val="FF821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04800" y="2577638"/>
            <a:ext cx="6300649" cy="6770412"/>
          </a:xfrm>
          <a:custGeom>
            <a:avLst/>
            <a:gdLst/>
            <a:ahLst/>
            <a:cxnLst/>
            <a:rect l="l" t="t" r="r" b="b"/>
            <a:pathLst>
              <a:path w="7829550" h="4276892">
                <a:moveTo>
                  <a:pt x="0" y="0"/>
                </a:moveTo>
                <a:lnTo>
                  <a:pt x="7829550" y="0"/>
                </a:lnTo>
                <a:lnTo>
                  <a:pt x="7829550" y="4276892"/>
                </a:lnTo>
                <a:lnTo>
                  <a:pt x="0" y="427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14450" y="962025"/>
            <a:ext cx="8115300" cy="702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 spc="-84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MODEL DEVELOPMENT &amp; EVALUATION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0474" y="2821374"/>
            <a:ext cx="5829300" cy="6940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76"/>
              </a:lnSpc>
            </a:pPr>
            <a:r>
              <a:rPr lang="en-US" sz="2800" b="1" spc="7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Random Forest</a:t>
            </a:r>
          </a:p>
          <a:p>
            <a:pPr marL="690370" lvl="1" indent="-345185" algn="l">
              <a:lnSpc>
                <a:spcPts val="4476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100 decision trees</a:t>
            </a:r>
          </a:p>
          <a:p>
            <a:pPr marL="690370" lvl="1" indent="-345185" algn="l">
              <a:lnSpc>
                <a:spcPts val="4476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Handles non-linear patterns</a:t>
            </a:r>
          </a:p>
          <a:p>
            <a:pPr marL="690370" lvl="1" indent="-345185" algn="l">
              <a:lnSpc>
                <a:spcPts val="4476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High accuracy</a:t>
            </a:r>
          </a:p>
          <a:p>
            <a:pPr marL="690370" lvl="1" indent="-345185" algn="l">
              <a:lnSpc>
                <a:spcPts val="4476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Provides feature importance</a:t>
            </a:r>
          </a:p>
          <a:p>
            <a:pPr marL="690370" lvl="1" indent="-345185" algn="l">
              <a:lnSpc>
                <a:spcPts val="4476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Robust</a:t>
            </a:r>
          </a:p>
          <a:p>
            <a:pPr marL="690370" lvl="1" indent="-345185" algn="l">
              <a:lnSpc>
                <a:spcPts val="4476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4x slower</a:t>
            </a:r>
          </a:p>
          <a:p>
            <a:pPr marL="690370" lvl="1" indent="-345185" algn="l">
              <a:lnSpc>
                <a:spcPts val="4476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Accuracy: 98.59%</a:t>
            </a:r>
          </a:p>
          <a:p>
            <a:pPr marL="690370" lvl="1" indent="-345185" algn="l">
              <a:lnSpc>
                <a:spcPts val="4476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F1-score: 0.9842</a:t>
            </a:r>
          </a:p>
          <a:p>
            <a:pPr marL="690370" lvl="1" indent="-345185" algn="l">
              <a:lnSpc>
                <a:spcPts val="4476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Training: 8.3s</a:t>
            </a:r>
          </a:p>
          <a:p>
            <a:pPr marL="690370" lvl="1" indent="-345185" algn="l">
              <a:lnSpc>
                <a:spcPts val="4476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Inference: 12ms</a:t>
            </a:r>
          </a:p>
          <a:p>
            <a:pPr marL="690370" lvl="1" indent="-345185" algn="l">
              <a:lnSpc>
                <a:spcPts val="4476"/>
              </a:lnSpc>
              <a:buFont typeface="Arial"/>
              <a:buChar char="•"/>
            </a:pPr>
            <a:endParaRPr lang="en-US" sz="2800" spc="63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6746819" y="2626266"/>
            <a:ext cx="5624651" cy="6703737"/>
          </a:xfrm>
          <a:custGeom>
            <a:avLst/>
            <a:gdLst/>
            <a:ahLst/>
            <a:cxnLst/>
            <a:rect l="l" t="t" r="r" b="b"/>
            <a:pathLst>
              <a:path w="7829550" h="4276892">
                <a:moveTo>
                  <a:pt x="0" y="0"/>
                </a:moveTo>
                <a:lnTo>
                  <a:pt x="7829550" y="0"/>
                </a:lnTo>
                <a:lnTo>
                  <a:pt x="7829550" y="4276892"/>
                </a:lnTo>
                <a:lnTo>
                  <a:pt x="0" y="427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841123" y="2851453"/>
            <a:ext cx="5424010" cy="6940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01"/>
              </a:lnSpc>
            </a:pPr>
            <a:r>
              <a:rPr lang="en-US" sz="2800" b="1" spc="7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Logistic regression</a:t>
            </a:r>
          </a:p>
          <a:p>
            <a:pPr marL="693988" lvl="1" indent="-346994" algn="l">
              <a:lnSpc>
                <a:spcPts val="4500"/>
              </a:lnSpc>
              <a:buFont typeface="Arial"/>
              <a:buChar char="•"/>
            </a:pPr>
            <a:r>
              <a:rPr lang="en-US" sz="2800" spc="6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fast and lightweight</a:t>
            </a:r>
          </a:p>
          <a:p>
            <a:pPr marL="693988" lvl="1" indent="-346994" algn="l">
              <a:lnSpc>
                <a:spcPts val="4500"/>
              </a:lnSpc>
              <a:buFont typeface="Arial"/>
              <a:buChar char="•"/>
            </a:pPr>
            <a:r>
              <a:rPr lang="en-US" sz="2800" spc="6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linear classifier</a:t>
            </a:r>
          </a:p>
          <a:p>
            <a:pPr marL="693988" lvl="1" indent="-346994" algn="l">
              <a:lnSpc>
                <a:spcPts val="4500"/>
              </a:lnSpc>
              <a:buFont typeface="Arial"/>
              <a:buChar char="•"/>
            </a:pPr>
            <a:r>
              <a:rPr lang="en-US" sz="2800" spc="6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probabilistic output</a:t>
            </a:r>
          </a:p>
          <a:p>
            <a:pPr marL="693988" lvl="1" indent="-346994" algn="l">
              <a:lnSpc>
                <a:spcPts val="4500"/>
              </a:lnSpc>
              <a:buFont typeface="Arial"/>
              <a:buChar char="•"/>
            </a:pPr>
            <a:r>
              <a:rPr lang="en-US" sz="2800" spc="6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ideal for real-time systems</a:t>
            </a:r>
          </a:p>
          <a:p>
            <a:pPr marL="690370" lvl="1" indent="-345185">
              <a:lnSpc>
                <a:spcPts val="4476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Accuracy: 97.79%</a:t>
            </a:r>
          </a:p>
          <a:p>
            <a:pPr marL="690370" lvl="1" indent="-345185">
              <a:lnSpc>
                <a:spcPts val="4476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F1-score: 0.9756</a:t>
            </a:r>
          </a:p>
          <a:p>
            <a:pPr marL="690370" lvl="1" indent="-345185">
              <a:lnSpc>
                <a:spcPts val="4476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Training: 2.1s</a:t>
            </a:r>
          </a:p>
          <a:p>
            <a:pPr marL="690370" lvl="1" indent="-345185">
              <a:lnSpc>
                <a:spcPts val="4476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Inference: 2ms</a:t>
            </a:r>
          </a:p>
          <a:p>
            <a:pPr marL="346994" lvl="1" algn="l">
              <a:lnSpc>
                <a:spcPts val="4500"/>
              </a:lnSpc>
            </a:pPr>
            <a:endParaRPr lang="en-US" sz="2800" spc="64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93988" lvl="1" indent="-346994" algn="l">
              <a:lnSpc>
                <a:spcPts val="4500"/>
              </a:lnSpc>
              <a:buFont typeface="Arial"/>
              <a:buChar char="•"/>
            </a:pPr>
            <a:endParaRPr lang="en-US" sz="2800" spc="64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D9C041D8-73FC-1681-8D79-530DF0D1D140}"/>
              </a:ext>
            </a:extLst>
          </p:cNvPr>
          <p:cNvSpPr/>
          <p:nvPr/>
        </p:nvSpPr>
        <p:spPr>
          <a:xfrm>
            <a:off x="12465774" y="2626265"/>
            <a:ext cx="5624651" cy="6703737"/>
          </a:xfrm>
          <a:custGeom>
            <a:avLst/>
            <a:gdLst/>
            <a:ahLst/>
            <a:cxnLst/>
            <a:rect l="l" t="t" r="r" b="b"/>
            <a:pathLst>
              <a:path w="7829550" h="4276892">
                <a:moveTo>
                  <a:pt x="0" y="0"/>
                </a:moveTo>
                <a:lnTo>
                  <a:pt x="7829550" y="0"/>
                </a:lnTo>
                <a:lnTo>
                  <a:pt x="7829550" y="4276892"/>
                </a:lnTo>
                <a:lnTo>
                  <a:pt x="0" y="427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843A9A04-3165-3E7E-B167-996B39BB6CCE}"/>
              </a:ext>
            </a:extLst>
          </p:cNvPr>
          <p:cNvSpPr txBox="1"/>
          <p:nvPr/>
        </p:nvSpPr>
        <p:spPr>
          <a:xfrm>
            <a:off x="12607144" y="2821374"/>
            <a:ext cx="5424010" cy="5208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01"/>
              </a:lnSpc>
            </a:pPr>
            <a:r>
              <a:rPr lang="en-US" sz="2800" b="1" spc="7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BERT</a:t>
            </a:r>
          </a:p>
          <a:p>
            <a:pPr marL="693988" lvl="1" indent="-346994" algn="l">
              <a:lnSpc>
                <a:spcPts val="4500"/>
              </a:lnSpc>
              <a:buFont typeface="Arial"/>
              <a:buChar char="•"/>
            </a:pPr>
            <a:r>
              <a:rPr lang="en-US" sz="2800" spc="6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Semantic understanding</a:t>
            </a:r>
          </a:p>
          <a:p>
            <a:pPr marL="693988" lvl="1" indent="-346994" algn="l">
              <a:lnSpc>
                <a:spcPts val="4500"/>
              </a:lnSpc>
              <a:buFont typeface="Arial"/>
              <a:buChar char="•"/>
            </a:pPr>
            <a:r>
              <a:rPr lang="en-US" sz="2800" spc="6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Slowest inference</a:t>
            </a:r>
          </a:p>
          <a:p>
            <a:pPr marL="690370" lvl="1" indent="-345185">
              <a:lnSpc>
                <a:spcPts val="4476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Accuracy: 99.12%</a:t>
            </a:r>
          </a:p>
          <a:p>
            <a:pPr marL="690370" lvl="1" indent="-345185">
              <a:lnSpc>
                <a:spcPts val="4476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F1-score: 0.9908</a:t>
            </a:r>
          </a:p>
          <a:p>
            <a:pPr marL="690370" lvl="1" indent="-345185">
              <a:lnSpc>
                <a:spcPts val="4476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Training: 45 min</a:t>
            </a:r>
          </a:p>
          <a:p>
            <a:pPr marL="690370" lvl="1" indent="-345185">
              <a:lnSpc>
                <a:spcPts val="4476"/>
              </a:lnSpc>
              <a:buFont typeface="Arial"/>
              <a:buChar char="•"/>
            </a:pPr>
            <a:r>
              <a:rPr lang="en-US" sz="2800" spc="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Inference: 120ms</a:t>
            </a:r>
          </a:p>
          <a:p>
            <a:pPr marL="346994" lvl="1" algn="l">
              <a:lnSpc>
                <a:spcPts val="4500"/>
              </a:lnSpc>
            </a:pPr>
            <a:endParaRPr lang="en-US" sz="2800" spc="64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93988" lvl="1" indent="-346994" algn="l">
              <a:lnSpc>
                <a:spcPts val="4500"/>
              </a:lnSpc>
              <a:buFont typeface="Arial"/>
              <a:buChar char="•"/>
            </a:pPr>
            <a:endParaRPr lang="en-US" sz="2800" spc="64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1" name="TextBox 20">
            <a:extLst>
              <a:ext uri="{FF2B5EF4-FFF2-40B4-BE49-F238E27FC236}">
                <a16:creationId xmlns:a16="http://schemas.microsoft.com/office/drawing/2014/main" id="{237BB7EE-4C04-D2BC-29A3-4EBBF66BC9B1}"/>
              </a:ext>
            </a:extLst>
          </p:cNvPr>
          <p:cNvSpPr txBox="1"/>
          <p:nvPr/>
        </p:nvSpPr>
        <p:spPr>
          <a:xfrm>
            <a:off x="16916400" y="9486900"/>
            <a:ext cx="829605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4EE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50983" y="889901"/>
            <a:ext cx="0" cy="951969"/>
          </a:xfrm>
          <a:prstGeom prst="line">
            <a:avLst/>
          </a:prstGeom>
          <a:ln w="190500" cap="flat">
            <a:solidFill>
              <a:srgbClr val="FF821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314450" y="962025"/>
            <a:ext cx="8115300" cy="702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 spc="-84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COMPARATIVE ANALYSIS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06570" y="2086891"/>
            <a:ext cx="6038344" cy="7166321"/>
            <a:chOff x="0" y="0"/>
            <a:chExt cx="1106139" cy="9487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06139" cy="948792"/>
            </a:xfrm>
            <a:custGeom>
              <a:avLst/>
              <a:gdLst/>
              <a:ahLst/>
              <a:cxnLst/>
              <a:rect l="l" t="t" r="r" b="b"/>
              <a:pathLst>
                <a:path w="1106139" h="948792">
                  <a:moveTo>
                    <a:pt x="0" y="0"/>
                  </a:moveTo>
                  <a:lnTo>
                    <a:pt x="1106139" y="0"/>
                  </a:lnTo>
                  <a:lnTo>
                    <a:pt x="1106139" y="948792"/>
                  </a:lnTo>
                  <a:lnTo>
                    <a:pt x="0" y="948792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8F4EE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821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06139" cy="986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06570" y="2459517"/>
            <a:ext cx="5658101" cy="5322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757" lvl="1" algn="l">
              <a:lnSpc>
                <a:spcPts val="4198"/>
              </a:lnSpc>
            </a:pPr>
            <a:r>
              <a:rPr lang="en-US" sz="2999" spc="59">
                <a:solidFill>
                  <a:schemeClr val="accent6">
                    <a:lumMod val="75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Cross Validation: (5-fold)</a:t>
            </a:r>
          </a:p>
          <a:p>
            <a:pPr marL="323757" lvl="1" algn="l">
              <a:lnSpc>
                <a:spcPts val="4198"/>
              </a:lnSpc>
            </a:pPr>
            <a:r>
              <a:rPr lang="en-US" sz="2400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Fold 1: Acc=99.30%, F1=0.9918       </a:t>
            </a:r>
          </a:p>
          <a:p>
            <a:pPr marL="323757" lvl="1" algn="l">
              <a:lnSpc>
                <a:spcPts val="4198"/>
              </a:lnSpc>
            </a:pPr>
            <a:r>
              <a:rPr lang="en-US" sz="2400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Fold 2: Acc=99.26%, F1=0.9914           </a:t>
            </a:r>
          </a:p>
          <a:p>
            <a:pPr marL="323757" lvl="1" algn="l">
              <a:lnSpc>
                <a:spcPts val="4198"/>
              </a:lnSpc>
            </a:pPr>
            <a:r>
              <a:rPr lang="en-US" sz="2400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Fold 3: Acc=99.38%, F1=0.9924          </a:t>
            </a:r>
          </a:p>
          <a:p>
            <a:pPr marL="323757" lvl="1" algn="l">
              <a:lnSpc>
                <a:spcPts val="4198"/>
              </a:lnSpc>
            </a:pPr>
            <a:r>
              <a:rPr lang="en-US" sz="2400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Fold 4: Acc=99.32%, F1=0.9920          </a:t>
            </a:r>
          </a:p>
          <a:p>
            <a:pPr marL="323757" lvl="1" algn="l">
              <a:lnSpc>
                <a:spcPts val="4198"/>
              </a:lnSpc>
            </a:pPr>
            <a:r>
              <a:rPr lang="en-US" sz="2400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Fold 5: Acc=99.36%, F1=0.9922</a:t>
            </a:r>
          </a:p>
          <a:p>
            <a:pPr marL="323757" lvl="1" algn="l">
              <a:lnSpc>
                <a:spcPts val="4198"/>
              </a:lnSpc>
            </a:pPr>
            <a:r>
              <a:rPr lang="en-US" sz="3000" spc="59">
                <a:solidFill>
                  <a:schemeClr val="accent6">
                    <a:lumMod val="75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Conclusion:</a:t>
            </a:r>
          </a:p>
          <a:p>
            <a:pPr marL="323757" lvl="1" algn="l">
              <a:lnSpc>
                <a:spcPts val="4198"/>
              </a:lnSpc>
            </a:pPr>
            <a:r>
              <a:rPr lang="en-US" sz="2400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Results are stable across different data splits. Not overfitted </a:t>
            </a:r>
          </a:p>
        </p:txBody>
      </p:sp>
      <p:grpSp>
        <p:nvGrpSpPr>
          <p:cNvPr id="17" name="Group 5">
            <a:extLst>
              <a:ext uri="{FF2B5EF4-FFF2-40B4-BE49-F238E27FC236}">
                <a16:creationId xmlns:a16="http://schemas.microsoft.com/office/drawing/2014/main" id="{1E8328FC-D950-E5FD-7CB3-A29A88EB39B1}"/>
              </a:ext>
            </a:extLst>
          </p:cNvPr>
          <p:cNvGrpSpPr/>
          <p:nvPr/>
        </p:nvGrpSpPr>
        <p:grpSpPr>
          <a:xfrm>
            <a:off x="6348924" y="2086891"/>
            <a:ext cx="6038344" cy="7166321"/>
            <a:chOff x="0" y="0"/>
            <a:chExt cx="1106139" cy="948792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B4F61968-4670-23F0-DBE4-EC32E930F1BC}"/>
                </a:ext>
              </a:extLst>
            </p:cNvPr>
            <p:cNvSpPr/>
            <p:nvPr/>
          </p:nvSpPr>
          <p:spPr>
            <a:xfrm>
              <a:off x="0" y="0"/>
              <a:ext cx="1106139" cy="948792"/>
            </a:xfrm>
            <a:custGeom>
              <a:avLst/>
              <a:gdLst/>
              <a:ahLst/>
              <a:cxnLst/>
              <a:rect l="l" t="t" r="r" b="b"/>
              <a:pathLst>
                <a:path w="1106139" h="948792">
                  <a:moveTo>
                    <a:pt x="0" y="0"/>
                  </a:moveTo>
                  <a:lnTo>
                    <a:pt x="1106139" y="0"/>
                  </a:lnTo>
                  <a:lnTo>
                    <a:pt x="1106139" y="948792"/>
                  </a:lnTo>
                  <a:lnTo>
                    <a:pt x="0" y="948792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8F4EE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821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7">
              <a:extLst>
                <a:ext uri="{FF2B5EF4-FFF2-40B4-BE49-F238E27FC236}">
                  <a16:creationId xmlns:a16="http://schemas.microsoft.com/office/drawing/2014/main" id="{162FB930-686D-B20E-08A1-7E85FF89046D}"/>
                </a:ext>
              </a:extLst>
            </p:cNvPr>
            <p:cNvSpPr txBox="1"/>
            <p:nvPr/>
          </p:nvSpPr>
          <p:spPr>
            <a:xfrm>
              <a:off x="0" y="-38100"/>
              <a:ext cx="1106139" cy="986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16">
            <a:extLst>
              <a:ext uri="{FF2B5EF4-FFF2-40B4-BE49-F238E27FC236}">
                <a16:creationId xmlns:a16="http://schemas.microsoft.com/office/drawing/2014/main" id="{E6C6C2D5-E785-AFAD-EA07-3F4F5B6FB64B}"/>
              </a:ext>
            </a:extLst>
          </p:cNvPr>
          <p:cNvSpPr txBox="1"/>
          <p:nvPr/>
        </p:nvSpPr>
        <p:spPr>
          <a:xfrm>
            <a:off x="6729167" y="2416466"/>
            <a:ext cx="5658101" cy="5860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757" lvl="1" algn="l">
              <a:lnSpc>
                <a:spcPts val="4198"/>
              </a:lnSpc>
            </a:pPr>
            <a:r>
              <a:rPr lang="en-US" sz="2999" spc="59">
                <a:solidFill>
                  <a:schemeClr val="accent6">
                    <a:lumMod val="75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Hyperparameter Tuning</a:t>
            </a:r>
          </a:p>
          <a:p>
            <a:pPr marL="323757" lvl="1" algn="l">
              <a:lnSpc>
                <a:spcPts val="4198"/>
              </a:lnSpc>
            </a:pPr>
            <a:r>
              <a:rPr lang="en-US" sz="2400" b="1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Random forest:</a:t>
            </a:r>
          </a:p>
          <a:p>
            <a:pPr marL="666657" lvl="1" indent="-342900" algn="l">
              <a:lnSpc>
                <a:spcPts val="4198"/>
              </a:lnSpc>
              <a:buFont typeface="Arial" panose="020B0604020202020204" pitchFamily="34" charset="0"/>
              <a:buChar char="•"/>
            </a:pPr>
            <a:r>
              <a:rPr lang="en-US" sz="2400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N_estimators: 100</a:t>
            </a:r>
          </a:p>
          <a:p>
            <a:pPr marL="666657" lvl="1" indent="-342900" algn="l">
              <a:lnSpc>
                <a:spcPts val="4198"/>
              </a:lnSpc>
              <a:buFont typeface="Arial" panose="020B0604020202020204" pitchFamily="34" charset="0"/>
              <a:buChar char="•"/>
            </a:pPr>
            <a:r>
              <a:rPr lang="en-US" sz="2400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Max depth: 20</a:t>
            </a:r>
          </a:p>
          <a:p>
            <a:pPr marL="666657" lvl="1" indent="-342900" algn="l">
              <a:lnSpc>
                <a:spcPts val="4198"/>
              </a:lnSpc>
              <a:buFont typeface="Arial" panose="020B0604020202020204" pitchFamily="34" charset="0"/>
              <a:buChar char="•"/>
            </a:pPr>
            <a:r>
              <a:rPr lang="en-US" sz="2400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Min sample split: 2</a:t>
            </a:r>
          </a:p>
          <a:p>
            <a:pPr marL="323757" lvl="1" algn="l">
              <a:lnSpc>
                <a:spcPts val="4198"/>
              </a:lnSpc>
            </a:pPr>
            <a:r>
              <a:rPr lang="en-US" sz="2400" b="1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BERT:</a:t>
            </a:r>
          </a:p>
          <a:p>
            <a:pPr marL="666657" lvl="1" indent="-342900" algn="l">
              <a:lnSpc>
                <a:spcPts val="4198"/>
              </a:lnSpc>
              <a:buFont typeface="Arial" panose="020B0604020202020204" pitchFamily="34" charset="0"/>
              <a:buChar char="•"/>
            </a:pPr>
            <a:r>
              <a:rPr lang="en-US" sz="2400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Learning rate: 2e-5</a:t>
            </a:r>
          </a:p>
          <a:p>
            <a:pPr marL="666657" lvl="1" indent="-342900" algn="l">
              <a:lnSpc>
                <a:spcPts val="4198"/>
              </a:lnSpc>
              <a:buFont typeface="Arial" panose="020B0604020202020204" pitchFamily="34" charset="0"/>
              <a:buChar char="•"/>
            </a:pPr>
            <a:r>
              <a:rPr lang="en-US" sz="2400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Batch size: 16</a:t>
            </a:r>
          </a:p>
          <a:p>
            <a:pPr marL="666657" lvl="1" indent="-342900" algn="l">
              <a:lnSpc>
                <a:spcPts val="4198"/>
              </a:lnSpc>
              <a:buFont typeface="Arial" panose="020B0604020202020204" pitchFamily="34" charset="0"/>
              <a:buChar char="•"/>
            </a:pPr>
            <a:r>
              <a:rPr lang="en-US" sz="2400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Epochs: 3</a:t>
            </a:r>
          </a:p>
          <a:p>
            <a:pPr marL="666657" lvl="1" indent="-342900" algn="l">
              <a:lnSpc>
                <a:spcPts val="4198"/>
              </a:lnSpc>
              <a:buFont typeface="Arial" panose="020B0604020202020204" pitchFamily="34" charset="0"/>
              <a:buChar char="•"/>
            </a:pPr>
            <a:r>
              <a:rPr lang="en-US" sz="2400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Warmup steps: 500</a:t>
            </a:r>
          </a:p>
          <a:p>
            <a:pPr marL="323757" lvl="1" algn="l">
              <a:lnSpc>
                <a:spcPts val="4198"/>
              </a:lnSpc>
            </a:pPr>
            <a:endParaRPr lang="en-US" sz="2400" spc="5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21" name="Group 5">
            <a:extLst>
              <a:ext uri="{FF2B5EF4-FFF2-40B4-BE49-F238E27FC236}">
                <a16:creationId xmlns:a16="http://schemas.microsoft.com/office/drawing/2014/main" id="{77297691-9C70-B5DA-5496-D7EC9F2DBF26}"/>
              </a:ext>
            </a:extLst>
          </p:cNvPr>
          <p:cNvGrpSpPr/>
          <p:nvPr/>
        </p:nvGrpSpPr>
        <p:grpSpPr>
          <a:xfrm>
            <a:off x="12387268" y="2086891"/>
            <a:ext cx="5900732" cy="7166321"/>
            <a:chOff x="0" y="0"/>
            <a:chExt cx="1106139" cy="94879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A1C49BB-D217-28F7-7CFB-3D88B0979B63}"/>
                </a:ext>
              </a:extLst>
            </p:cNvPr>
            <p:cNvSpPr/>
            <p:nvPr/>
          </p:nvSpPr>
          <p:spPr>
            <a:xfrm>
              <a:off x="0" y="0"/>
              <a:ext cx="1106139" cy="948792"/>
            </a:xfrm>
            <a:custGeom>
              <a:avLst/>
              <a:gdLst/>
              <a:ahLst/>
              <a:cxnLst/>
              <a:rect l="l" t="t" r="r" b="b"/>
              <a:pathLst>
                <a:path w="1106139" h="948792">
                  <a:moveTo>
                    <a:pt x="0" y="0"/>
                  </a:moveTo>
                  <a:lnTo>
                    <a:pt x="1106139" y="0"/>
                  </a:lnTo>
                  <a:lnTo>
                    <a:pt x="1106139" y="948792"/>
                  </a:lnTo>
                  <a:lnTo>
                    <a:pt x="0" y="948792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8F4EE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821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5AE130A9-0EA3-0141-D9D8-F9A267CB2774}"/>
                </a:ext>
              </a:extLst>
            </p:cNvPr>
            <p:cNvSpPr txBox="1"/>
            <p:nvPr/>
          </p:nvSpPr>
          <p:spPr>
            <a:xfrm>
              <a:off x="0" y="-38100"/>
              <a:ext cx="1106139" cy="986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16">
            <a:extLst>
              <a:ext uri="{FF2B5EF4-FFF2-40B4-BE49-F238E27FC236}">
                <a16:creationId xmlns:a16="http://schemas.microsoft.com/office/drawing/2014/main" id="{62A880A0-9C39-1F4C-DEA5-913D056F9B43}"/>
              </a:ext>
            </a:extLst>
          </p:cNvPr>
          <p:cNvSpPr txBox="1"/>
          <p:nvPr/>
        </p:nvSpPr>
        <p:spPr>
          <a:xfrm>
            <a:off x="12629899" y="2324100"/>
            <a:ext cx="5658101" cy="6938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757" lvl="1" algn="l">
              <a:lnSpc>
                <a:spcPts val="4198"/>
              </a:lnSpc>
            </a:pPr>
            <a:r>
              <a:rPr lang="en-US" sz="2999" spc="59">
                <a:solidFill>
                  <a:schemeClr val="accent6">
                    <a:lumMod val="75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Validation metrics</a:t>
            </a:r>
          </a:p>
          <a:p>
            <a:pPr marL="323757" lvl="1" algn="l">
              <a:lnSpc>
                <a:spcPts val="4198"/>
              </a:lnSpc>
            </a:pPr>
            <a:r>
              <a:rPr lang="en-US" sz="2400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Precision: 0.9925</a:t>
            </a:r>
          </a:p>
          <a:p>
            <a:pPr marL="323757" lvl="1" algn="l">
              <a:lnSpc>
                <a:spcPts val="4198"/>
              </a:lnSpc>
            </a:pPr>
            <a:r>
              <a:rPr lang="en-US" sz="2400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Recall: 0.9917</a:t>
            </a:r>
          </a:p>
          <a:p>
            <a:pPr marL="323757" lvl="1" algn="l">
              <a:lnSpc>
                <a:spcPts val="4198"/>
              </a:lnSpc>
            </a:pPr>
            <a:r>
              <a:rPr lang="en-US" sz="2400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False Positive: 0.66%</a:t>
            </a:r>
          </a:p>
          <a:p>
            <a:pPr marL="323757" lvl="1" algn="l">
              <a:lnSpc>
                <a:spcPts val="4198"/>
              </a:lnSpc>
            </a:pPr>
            <a:r>
              <a:rPr lang="en-US" sz="2400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False Negative: 0.83%</a:t>
            </a:r>
          </a:p>
          <a:p>
            <a:pPr marL="323757" lvl="1" algn="l">
              <a:lnSpc>
                <a:spcPts val="4198"/>
              </a:lnSpc>
            </a:pPr>
            <a:r>
              <a:rPr lang="en-US" sz="2400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Interpretation:                         </a:t>
            </a:r>
          </a:p>
          <a:p>
            <a:pPr marL="323757" lvl="1" algn="l">
              <a:lnSpc>
                <a:spcPts val="4198"/>
              </a:lnSpc>
            </a:pPr>
            <a:r>
              <a:rPr lang="en-US" sz="2400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FPR: Only 0.66% false positives (candidates wrongly rejected) FNR: Only 0.83% false negatives (good candidates wrongly rejected) </a:t>
            </a:r>
          </a:p>
          <a:p>
            <a:pPr marL="323757" lvl="1" algn="l">
              <a:lnSpc>
                <a:spcPts val="4198"/>
              </a:lnSpc>
            </a:pPr>
            <a:r>
              <a:rPr lang="en-US" sz="2400" spc="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Both acceptable for HR use </a:t>
            </a:r>
          </a:p>
          <a:p>
            <a:pPr marL="323757" lvl="1" algn="l">
              <a:lnSpc>
                <a:spcPts val="4198"/>
              </a:lnSpc>
            </a:pPr>
            <a:endParaRPr lang="en-US" sz="2400" spc="5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4" name="TextBox 20">
            <a:extLst>
              <a:ext uri="{FF2B5EF4-FFF2-40B4-BE49-F238E27FC236}">
                <a16:creationId xmlns:a16="http://schemas.microsoft.com/office/drawing/2014/main" id="{D3A0E000-E724-8CB0-6F70-C08D608FF667}"/>
              </a:ext>
            </a:extLst>
          </p:cNvPr>
          <p:cNvSpPr txBox="1"/>
          <p:nvPr/>
        </p:nvSpPr>
        <p:spPr>
          <a:xfrm>
            <a:off x="16916400" y="9486900"/>
            <a:ext cx="829605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8F4EE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50983" y="889901"/>
            <a:ext cx="0" cy="951969"/>
          </a:xfrm>
          <a:prstGeom prst="line">
            <a:avLst/>
          </a:prstGeom>
          <a:ln w="190500" cap="flat">
            <a:solidFill>
              <a:srgbClr val="FF821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314449" y="962025"/>
            <a:ext cx="15620375" cy="693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 spc="-84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INTERPRETABILITY &amp; EXPLAINABILITY (Example 1)</a:t>
            </a:r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9AA19C84-1D75-673C-D2ED-191A05447500}"/>
              </a:ext>
            </a:extLst>
          </p:cNvPr>
          <p:cNvGrpSpPr/>
          <p:nvPr/>
        </p:nvGrpSpPr>
        <p:grpSpPr>
          <a:xfrm>
            <a:off x="1256677" y="1841870"/>
            <a:ext cx="15678149" cy="6925575"/>
            <a:chOff x="0" y="0"/>
            <a:chExt cx="567060" cy="338497"/>
          </a:xfrm>
        </p:grpSpPr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40DEBBE7-52C0-26E1-77DF-43CEB8559BFD}"/>
                </a:ext>
              </a:extLst>
            </p:cNvPr>
            <p:cNvSpPr/>
            <p:nvPr/>
          </p:nvSpPr>
          <p:spPr>
            <a:xfrm>
              <a:off x="0" y="0"/>
              <a:ext cx="567060" cy="338497"/>
            </a:xfrm>
            <a:custGeom>
              <a:avLst/>
              <a:gdLst/>
              <a:ahLst/>
              <a:cxnLst/>
              <a:rect l="l" t="t" r="r" b="b"/>
              <a:pathLst>
                <a:path w="567060" h="338497">
                  <a:moveTo>
                    <a:pt x="0" y="0"/>
                  </a:moveTo>
                  <a:lnTo>
                    <a:pt x="567060" y="0"/>
                  </a:lnTo>
                  <a:lnTo>
                    <a:pt x="567060" y="338497"/>
                  </a:lnTo>
                  <a:lnTo>
                    <a:pt x="0" y="338497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8F4EE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821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5">
              <a:extLst>
                <a:ext uri="{FF2B5EF4-FFF2-40B4-BE49-F238E27FC236}">
                  <a16:creationId xmlns:a16="http://schemas.microsoft.com/office/drawing/2014/main" id="{204906CC-1866-C0D7-D1DC-33558AC6F07A}"/>
                </a:ext>
              </a:extLst>
            </p:cNvPr>
            <p:cNvSpPr txBox="1"/>
            <p:nvPr/>
          </p:nvSpPr>
          <p:spPr>
            <a:xfrm>
              <a:off x="0" y="-38100"/>
              <a:ext cx="567060" cy="376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8">
            <a:extLst>
              <a:ext uri="{FF2B5EF4-FFF2-40B4-BE49-F238E27FC236}">
                <a16:creationId xmlns:a16="http://schemas.microsoft.com/office/drawing/2014/main" id="{109C4D95-6CAE-C1E0-5F74-272B8F4AA80A}"/>
              </a:ext>
            </a:extLst>
          </p:cNvPr>
          <p:cNvSpPr txBox="1"/>
          <p:nvPr/>
        </p:nvSpPr>
        <p:spPr>
          <a:xfrm>
            <a:off x="1576853" y="2026345"/>
            <a:ext cx="15034748" cy="6986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25"/>
              </a:lnSpc>
            </a:pPr>
            <a:r>
              <a:rPr lang="en-US" sz="2589" b="1" spc="51">
                <a:solidFill>
                  <a:schemeClr val="accent6">
                    <a:lumMod val="75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Input resume:</a:t>
            </a:r>
          </a:p>
          <a:p>
            <a:pPr>
              <a:buNone/>
            </a:pPr>
            <a:r>
              <a:rPr lang="en-US" sz="2400">
                <a:latin typeface="Open Sauce" panose="020B0604020202020204" charset="0"/>
              </a:rPr>
              <a:t>"5 years Python experience, Machine Learning, TensorFlow, Keras, Pandas, AWS, Docker, Git, SQL" </a:t>
            </a:r>
          </a:p>
          <a:p>
            <a:r>
              <a:rPr lang="en-US" sz="2400" b="1">
                <a:solidFill>
                  <a:schemeClr val="accent6">
                    <a:lumMod val="75000"/>
                  </a:schemeClr>
                </a:solidFill>
                <a:latin typeface="Open Sauce" panose="020B0604020202020204" charset="0"/>
              </a:rPr>
              <a:t>Prediction: </a:t>
            </a:r>
            <a:r>
              <a:rPr lang="en-US" sz="2400">
                <a:latin typeface="Open Sauce" panose="020B0604020202020204" charset="0"/>
              </a:rPr>
              <a:t>Python developer (96%)</a:t>
            </a:r>
          </a:p>
          <a:p>
            <a:r>
              <a:rPr lang="en-US" sz="2400" b="1">
                <a:solidFill>
                  <a:schemeClr val="accent6">
                    <a:lumMod val="75000"/>
                  </a:schemeClr>
                </a:solidFill>
                <a:latin typeface="Open Sauce" panose="020B0604020202020204" charset="0"/>
              </a:rPr>
              <a:t>SHAP explanation: </a:t>
            </a:r>
          </a:p>
          <a:p>
            <a:r>
              <a:rPr lang="en-US" sz="2400">
                <a:latin typeface="Open Sauce" panose="020B0604020202020204" charset="0"/>
              </a:rPr>
              <a:t>Python +0.32 contribution</a:t>
            </a:r>
          </a:p>
          <a:p>
            <a:r>
              <a:rPr lang="en-US" sz="2400">
                <a:latin typeface="Open Sauce" panose="020B0604020202020204" charset="0"/>
              </a:rPr>
              <a:t>Machine learning +0.21</a:t>
            </a:r>
          </a:p>
          <a:p>
            <a:r>
              <a:rPr lang="en-US" sz="2400">
                <a:latin typeface="Open Sauce" panose="020B0604020202020204" charset="0"/>
              </a:rPr>
              <a:t>Tensorflow +0.15</a:t>
            </a:r>
          </a:p>
          <a:p>
            <a:r>
              <a:rPr lang="en-US" sz="2400">
                <a:latin typeface="Open Sauce" panose="020B0604020202020204" charset="0"/>
              </a:rPr>
              <a:t>Num skills=8 +0.14</a:t>
            </a:r>
          </a:p>
          <a:p>
            <a:r>
              <a:rPr lang="en-US" sz="2400">
                <a:latin typeface="Open Sauce" panose="020B0604020202020204" charset="0"/>
              </a:rPr>
              <a:t>Keras +0.08</a:t>
            </a:r>
          </a:p>
          <a:p>
            <a:r>
              <a:rPr lang="en-US" sz="2400">
                <a:latin typeface="Open Sauce" panose="020B0604020202020204" charset="0"/>
              </a:rPr>
              <a:t>Total = 0.90 confidence</a:t>
            </a:r>
          </a:p>
          <a:p>
            <a:r>
              <a:rPr lang="en-US" sz="2400" b="1">
                <a:solidFill>
                  <a:schemeClr val="accent6">
                    <a:lumMod val="75000"/>
                  </a:schemeClr>
                </a:solidFill>
                <a:latin typeface="Open Sauce" panose="020B0604020202020204" charset="0"/>
              </a:rPr>
              <a:t>LIME explanation: </a:t>
            </a:r>
          </a:p>
          <a:p>
            <a:r>
              <a:rPr lang="en-US" sz="2400">
                <a:latin typeface="Open Sauce" panose="020B0604020202020204" charset="0"/>
              </a:rPr>
              <a:t>Python +0.42 contribution</a:t>
            </a:r>
          </a:p>
          <a:p>
            <a:r>
              <a:rPr lang="en-US" sz="2400">
                <a:latin typeface="Open Sauce" panose="020B0604020202020204" charset="0"/>
              </a:rPr>
              <a:t>Machine learning +0.28</a:t>
            </a:r>
          </a:p>
          <a:p>
            <a:r>
              <a:rPr lang="en-US" sz="2400">
                <a:latin typeface="Open Sauce" panose="020B0604020202020204" charset="0"/>
              </a:rPr>
              <a:t>Tensorflow +0.25</a:t>
            </a:r>
          </a:p>
          <a:p>
            <a:r>
              <a:rPr lang="en-US" sz="2400">
                <a:latin typeface="Open Sauce" panose="020B0604020202020204" charset="0"/>
              </a:rPr>
              <a:t>Num skills=8 +0.18</a:t>
            </a:r>
          </a:p>
          <a:p>
            <a:r>
              <a:rPr lang="en-US" sz="2400">
                <a:latin typeface="Open Sauce" panose="020B0604020202020204" charset="0"/>
              </a:rPr>
              <a:t>Keras +0.12</a:t>
            </a:r>
          </a:p>
          <a:p>
            <a:r>
              <a:rPr lang="en-US" sz="2400">
                <a:solidFill>
                  <a:schemeClr val="accent6">
                    <a:lumMod val="75000"/>
                  </a:schemeClr>
                </a:solidFill>
                <a:latin typeface="Open Sauce" panose="020B0604020202020204" charset="0"/>
              </a:rPr>
              <a:t>Interpretation: </a:t>
            </a:r>
            <a:r>
              <a:rPr lang="en-US" sz="2400">
                <a:latin typeface="Open Sauce" panose="020B0604020202020204" charset="0"/>
              </a:rPr>
              <a:t>Strong match because of python, machine learning, and tensorflow</a:t>
            </a:r>
          </a:p>
          <a:p>
            <a:endParaRPr lang="en-US" sz="2000">
              <a:latin typeface="Open Sauce" panose="020B0604020202020204" charset="0"/>
            </a:endParaRPr>
          </a:p>
          <a:p>
            <a:endParaRPr lang="en-US" sz="2000">
              <a:latin typeface="Open Sauce" panose="020B0604020202020204" charset="0"/>
            </a:endParaRPr>
          </a:p>
        </p:txBody>
      </p:sp>
      <p:sp>
        <p:nvSpPr>
          <p:cNvPr id="5" name="TextBox 20">
            <a:extLst>
              <a:ext uri="{FF2B5EF4-FFF2-40B4-BE49-F238E27FC236}">
                <a16:creationId xmlns:a16="http://schemas.microsoft.com/office/drawing/2014/main" id="{3F1591C7-5AC0-7674-7068-7B6EBE9B3983}"/>
              </a:ext>
            </a:extLst>
          </p:cNvPr>
          <p:cNvSpPr txBox="1"/>
          <p:nvPr/>
        </p:nvSpPr>
        <p:spPr>
          <a:xfrm>
            <a:off x="16916400" y="9486900"/>
            <a:ext cx="829605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8F4EE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50983" y="889901"/>
            <a:ext cx="0" cy="951969"/>
          </a:xfrm>
          <a:prstGeom prst="line">
            <a:avLst/>
          </a:prstGeom>
          <a:ln w="190500" cap="flat">
            <a:solidFill>
              <a:srgbClr val="FF821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314450" y="962025"/>
            <a:ext cx="8115300" cy="702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 spc="-84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SCALABILITY &amp; INNOVATION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73485" y="2247900"/>
            <a:ext cx="15541029" cy="6703078"/>
            <a:chOff x="0" y="0"/>
            <a:chExt cx="759002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59002" cy="812800"/>
            </a:xfrm>
            <a:custGeom>
              <a:avLst/>
              <a:gdLst/>
              <a:ahLst/>
              <a:cxnLst/>
              <a:rect l="l" t="t" r="r" b="b"/>
              <a:pathLst>
                <a:path w="759002" h="812800">
                  <a:moveTo>
                    <a:pt x="0" y="0"/>
                  </a:moveTo>
                  <a:lnTo>
                    <a:pt x="759002" y="0"/>
                  </a:lnTo>
                  <a:lnTo>
                    <a:pt x="759002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8F4EE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821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59002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60595" y="2495759"/>
            <a:ext cx="14700772" cy="5447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800" b="1" spc="55">
                <a:solidFill>
                  <a:schemeClr val="accent6">
                    <a:lumMod val="75000"/>
                  </a:schemeClr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Future enhancements:</a:t>
            </a:r>
          </a:p>
          <a:p>
            <a:pPr marL="457200" indent="-457200" algn="l">
              <a:lnSpc>
                <a:spcPts val="3919"/>
              </a:lnSpc>
              <a:buAutoNum type="arabicPeriod"/>
            </a:pPr>
            <a:r>
              <a:rPr lang="en-US" sz="2400" b="1" spc="55">
                <a:solidFill>
                  <a:srgbClr val="000000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Multi-Label Classification </a:t>
            </a:r>
          </a:p>
          <a:p>
            <a:pPr algn="l">
              <a:lnSpc>
                <a:spcPts val="3919"/>
              </a:lnSpc>
            </a:pPr>
            <a:r>
              <a:rPr lang="en-US" sz="2400" b="1" spc="55">
                <a:solidFill>
                  <a:srgbClr val="000000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2. Resume Parsing </a:t>
            </a:r>
          </a:p>
          <a:p>
            <a:pPr algn="l">
              <a:lnSpc>
                <a:spcPts val="3919"/>
              </a:lnSpc>
            </a:pPr>
            <a:r>
              <a:rPr lang="en-US" sz="2400" b="1" spc="55">
                <a:solidFill>
                  <a:srgbClr val="000000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3. Active Learning </a:t>
            </a:r>
          </a:p>
          <a:p>
            <a:pPr algn="l">
              <a:lnSpc>
                <a:spcPts val="3919"/>
              </a:lnSpc>
            </a:pPr>
            <a:r>
              <a:rPr lang="en-US" sz="2400" b="1" spc="55">
                <a:solidFill>
                  <a:srgbClr val="000000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4. Fairness Constraints </a:t>
            </a:r>
          </a:p>
          <a:p>
            <a:pPr algn="l">
              <a:lnSpc>
                <a:spcPts val="3919"/>
              </a:lnSpc>
            </a:pPr>
            <a:r>
              <a:rPr lang="en-US" sz="2400" b="1" spc="55">
                <a:solidFill>
                  <a:srgbClr val="000000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5. Candidate Chatbot</a:t>
            </a:r>
          </a:p>
          <a:p>
            <a:pPr algn="l">
              <a:lnSpc>
                <a:spcPts val="3919"/>
              </a:lnSpc>
            </a:pPr>
            <a:endParaRPr lang="en-US" sz="2400" b="1" spc="55">
              <a:solidFill>
                <a:schemeClr val="accent6">
                  <a:lumMod val="75000"/>
                </a:schemeClr>
              </a:solidFill>
              <a:latin typeface="Open Sauce" panose="020B0604020202020204" charset="0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919"/>
              </a:lnSpc>
            </a:pPr>
            <a:r>
              <a:rPr lang="en-US" sz="2800" b="1" spc="55">
                <a:solidFill>
                  <a:schemeClr val="accent6">
                    <a:lumMod val="75000"/>
                  </a:schemeClr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SCALABILITY:</a:t>
            </a:r>
          </a:p>
          <a:p>
            <a:pPr algn="l">
              <a:lnSpc>
                <a:spcPts val="3919"/>
              </a:lnSpc>
            </a:pPr>
            <a:r>
              <a:rPr lang="en-US" sz="2400" b="1" spc="55">
                <a:solidFill>
                  <a:srgbClr val="000000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Scale to 1 Million Predictions/Year</a:t>
            </a:r>
          </a:p>
          <a:p>
            <a:pPr algn="l">
              <a:lnSpc>
                <a:spcPts val="3919"/>
              </a:lnSpc>
            </a:pPr>
            <a:r>
              <a:rPr lang="en-US" sz="2400" spc="55">
                <a:solidFill>
                  <a:srgbClr val="000000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Current Performance: 132ms per prediction, 500 resumes/hour = 4,400/day, 1.6M predictions/year (single GPU), Cost: ~$100/month (cloud GPU)</a:t>
            </a:r>
          </a:p>
        </p:txBody>
      </p:sp>
      <p:sp>
        <p:nvSpPr>
          <p:cNvPr id="4" name="TextBox 20">
            <a:extLst>
              <a:ext uri="{FF2B5EF4-FFF2-40B4-BE49-F238E27FC236}">
                <a16:creationId xmlns:a16="http://schemas.microsoft.com/office/drawing/2014/main" id="{055B0871-4BDD-949B-EE54-CF1879F2E668}"/>
              </a:ext>
            </a:extLst>
          </p:cNvPr>
          <p:cNvSpPr txBox="1"/>
          <p:nvPr/>
        </p:nvSpPr>
        <p:spPr>
          <a:xfrm>
            <a:off x="16916400" y="9486900"/>
            <a:ext cx="829605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8F4E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18788" y="3239563"/>
            <a:ext cx="9050424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sz="12000" b="1" spc="-48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THE END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618788" y="5565982"/>
            <a:ext cx="905042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</a:t>
            </a:r>
          </a:p>
        </p:txBody>
      </p:sp>
      <p:sp>
        <p:nvSpPr>
          <p:cNvPr id="4" name="TextBox 20">
            <a:extLst>
              <a:ext uri="{FF2B5EF4-FFF2-40B4-BE49-F238E27FC236}">
                <a16:creationId xmlns:a16="http://schemas.microsoft.com/office/drawing/2014/main" id="{A905B8C0-E4DD-8748-3748-608D9E986720}"/>
              </a:ext>
            </a:extLst>
          </p:cNvPr>
          <p:cNvSpPr txBox="1"/>
          <p:nvPr/>
        </p:nvSpPr>
        <p:spPr>
          <a:xfrm>
            <a:off x="16916400" y="9486900"/>
            <a:ext cx="829605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Cream Gradient Modern Bold Professional Pitch Deck Presentation</dc:title>
  <dc:creator>Hp</dc:creator>
  <cp:revision>1</cp:revision>
  <dcterms:created xsi:type="dcterms:W3CDTF">2006-08-16T00:00:00Z</dcterms:created>
  <dcterms:modified xsi:type="dcterms:W3CDTF">2025-12-16T11:49:56Z</dcterms:modified>
  <dc:identifier>DAG7jeclpEU</dc:identifier>
</cp:coreProperties>
</file>